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latypi Light"/>
      <p:regular r:id="rId21"/>
      <p:bold r:id="rId22"/>
      <p:italic r:id="rId23"/>
      <p:boldItalic r:id="rId24"/>
    </p:embeddedFont>
    <p:embeddedFont>
      <p:font typeface="Roboto"/>
      <p:regular r:id="rId25"/>
      <p:bold r:id="rId26"/>
      <p:italic r:id="rId27"/>
      <p:boldItalic r:id="rId28"/>
    </p:embeddedFont>
    <p:embeddedFont>
      <p:font typeface="Platypi"/>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typiLight-bold.fntdata"/><Relationship Id="rId21" Type="http://schemas.openxmlformats.org/officeDocument/2006/relationships/font" Target="fonts/PlatypiLight-regular.fntdata"/><Relationship Id="rId24" Type="http://schemas.openxmlformats.org/officeDocument/2006/relationships/font" Target="fonts/PlatypiLight-boldItalic.fntdata"/><Relationship Id="rId23" Type="http://schemas.openxmlformats.org/officeDocument/2006/relationships/font" Target="fonts/Platypi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typi-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typi-italic.fntdata"/><Relationship Id="rId30" Type="http://schemas.openxmlformats.org/officeDocument/2006/relationships/font" Target="fonts/Platypi-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Platypi-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unner.py"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RuleScape is a rule-based optimization tool for genetic circuit design.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7886fa6b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7886fa6b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Rafay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start off with a scenario that we can relate to. You’re asked to make a NOT gate for your PI. Through the work you’ve done so far along with some help from lab members and your own literature reviews, you know of some </a:t>
            </a:r>
            <a:r>
              <a:rPr lang="en"/>
              <a:t>relevant rules or techniques for design that will help with creating an effective circuit that has your desired expression. Of course, we never know that for sure and since you’re using new parts that nobody in your lab has used, you’re kind of in the wild west with what rules and arrangements are going to help. If we were to break it down through the “Specify, Design, Build, Test, and Learn” workflow we’ve been talking about over the semester, we would put these considerations for context effects, part arrangements, etc. under our specify and design steps.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7886fa6b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7886fa6b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Rafay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Diving in a bit deeper, we have a host of tools we could use to help design and specify; Knox and Cello. Naturally this part of the cycle feeds off of each other and we’ll go back and forth between the two as we flesh our ideas out more and </a:t>
            </a:r>
            <a:r>
              <a:rPr lang="en"/>
              <a:t>decide how exactly we’re going to orient everything. This process is laborious, and there can be a lot of friction going in between the two. Additionally, we’re going to learn more about the new parts we’re using and we will likely want to have some way to document this while we design and specify to help other lab members when they try to use these parts as well. The overall burden and strain on the researcher starts to become a lot, and this is where a lot of people can get frustrated. But what if we had a way to automate all of this? Remove the decision fatigue, get rid of the friction, and give a clear ranked display of designs and rules with high-impact, driving the success of your designs as we work in silico. That’s where RuleScape comes in. RuleScape gets rid of all the fluff and consolidates the whole “design and specify cycle” into one centralized interface, with a ML algorithm trained on experimental data to provide predictions on high throughput designs and rules that drive throughput.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780b9c4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780b9c4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Meredith - </a:t>
            </a:r>
            <a:r>
              <a:rPr lang="en"/>
              <a:t>The core functionality of RuleScape is parsing a data library of circuit designs and matching them to rules to rank the rules based on expression levels. The user begins by generating UCF and CSV files from the data library. Cello then runs using the UCF file and outputs expression scores. Knox takes these scores along with their associated designs and evaluates the rules against them. Finally, a machine learning model ranks the rules based on expression levels, giving the user insight into which rules best fit the circuit designs.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780b9c457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780b9c457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Meredith - </a:t>
            </a:r>
            <a:r>
              <a:rPr lang="en">
                <a:solidFill>
                  <a:schemeClr val="dk1"/>
                </a:solidFill>
              </a:rPr>
              <a:t>This slide outlines the key requirements and constraints that define the boundaries of RuleScape. Starting with inputs, the system takes in a UCF file, rules, parts, verilog file and a .mat file — with all files aside from the UCF needing to be in CSV format for Knox compatibility.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output side, the system produces ranked rules and performance statistics. Through these, users can optimize their designs and test different rule configurations.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performance, RuleScape uses Node.js and React for the GUI, and Python for the ML and adapter layer — both industry standard frameworks chosen for optimal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terms of constraints, the scope is limited to yeast context, with the parts library based on the provided .mat data and circuit designs fixed at 8 parts.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system side, RuleScape runs on Docker and local servers, with GOLDBAR syntax required for rules. Interoperability between Knox, Cello, and RuleScape requires Docker to manage requests between the tools.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780b9c457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780b9c457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Meredith - </a:t>
            </a:r>
            <a:r>
              <a:rPr lang="en"/>
              <a:t>This systems diagram illustrates the full workflow of RuleScape. The process begins by inputting the data library into the file generators, which produce the CSV and UCF files. The UCF and verilog files, and input and output json files are then fed into Cello, whose output is used to generate a weights CSV file. Next, the design and part CSV files from the first stage, along with the rules CSV file, are passed into Knox, which outputs a mapping of scores to rules. Finally, the ML algorithm extracts this data and ranks the rules based on the desired expression levels.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76efeaf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76efeaf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Juliette</a:t>
            </a:r>
            <a:endParaRPr/>
          </a:p>
          <a:p>
            <a:pPr indent="0" lvl="0" marL="0" rtl="0" algn="l">
              <a:spcBef>
                <a:spcPts val="0"/>
              </a:spcBef>
              <a:spcAft>
                <a:spcPts val="0"/>
              </a:spcAft>
              <a:buNone/>
            </a:pPr>
            <a:r>
              <a:t/>
            </a:r>
            <a:endParaRPr/>
          </a:p>
          <a:p>
            <a:pPr indent="-292100" lvl="0" marL="457200" rtl="0" algn="l">
              <a:lnSpc>
                <a:spcPct val="115000"/>
              </a:lnSpc>
              <a:spcBef>
                <a:spcPts val="0"/>
              </a:spcBef>
              <a:spcAft>
                <a:spcPts val="0"/>
              </a:spcAft>
              <a:buClr>
                <a:srgbClr val="595959"/>
              </a:buClr>
              <a:buSzPts val="1000"/>
              <a:buFont typeface="Platypi"/>
              <a:buAutoNum type="arabicPeriod"/>
            </a:pPr>
            <a:r>
              <a:rPr lang="en" sz="1000">
                <a:solidFill>
                  <a:srgbClr val="595959"/>
                </a:solidFill>
                <a:latin typeface="Platypi"/>
                <a:ea typeface="Platypi"/>
                <a:cs typeface="Platypi"/>
                <a:sym typeface="Platypi"/>
              </a:rPr>
              <a:t>CLASSIC dataset: real experimental data from single-input library</a:t>
            </a:r>
            <a:endParaRPr sz="10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Each row is one genetic design corresponding to one particular biological construct built from a specific combination of design choices</a:t>
            </a:r>
            <a:endParaRPr sz="6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Each design is described by 9 design factor column, basal expression, induced expression, fold change and a computed switch score</a:t>
            </a:r>
            <a:endParaRPr sz="600">
              <a:solidFill>
                <a:srgbClr val="595959"/>
              </a:solidFill>
              <a:latin typeface="Platypi"/>
              <a:ea typeface="Platypi"/>
              <a:cs typeface="Platypi"/>
              <a:sym typeface="Platypi"/>
            </a:endParaRPr>
          </a:p>
          <a:p>
            <a:pPr indent="-292100" lvl="0" marL="457200" rtl="0" algn="l">
              <a:lnSpc>
                <a:spcPct val="115000"/>
              </a:lnSpc>
              <a:spcBef>
                <a:spcPts val="0"/>
              </a:spcBef>
              <a:spcAft>
                <a:spcPts val="0"/>
              </a:spcAft>
              <a:buClr>
                <a:srgbClr val="595959"/>
              </a:buClr>
              <a:buSzPts val="1000"/>
              <a:buFont typeface="Platypi"/>
              <a:buAutoNum type="arabicPeriod"/>
            </a:pPr>
            <a:r>
              <a:rPr lang="en" sz="1000">
                <a:solidFill>
                  <a:srgbClr val="595959"/>
                </a:solidFill>
                <a:latin typeface="Platypi"/>
                <a:ea typeface="Platypi"/>
                <a:cs typeface="Platypi"/>
                <a:sym typeface="Platypi"/>
              </a:rPr>
              <a:t>User-Constraint File</a:t>
            </a:r>
            <a:endParaRPr sz="10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A structured json that tells which gates exist, what model each gate uses, what parts and structures are associated with the gate, the mathematical response function describing the gate behavior</a:t>
            </a:r>
            <a:endParaRPr sz="600">
              <a:solidFill>
                <a:srgbClr val="595959"/>
              </a:solidFill>
              <a:latin typeface="Platypi"/>
              <a:ea typeface="Platypi"/>
              <a:cs typeface="Platypi"/>
              <a:sym typeface="Platypi"/>
            </a:endParaRPr>
          </a:p>
          <a:p>
            <a:pPr indent="-292100" lvl="0" marL="457200" rtl="0" algn="l">
              <a:lnSpc>
                <a:spcPct val="115000"/>
              </a:lnSpc>
              <a:spcBef>
                <a:spcPts val="0"/>
              </a:spcBef>
              <a:spcAft>
                <a:spcPts val="0"/>
              </a:spcAft>
              <a:buClr>
                <a:srgbClr val="595959"/>
              </a:buClr>
              <a:buSzPts val="1000"/>
              <a:buFont typeface="Platypi"/>
              <a:buAutoNum type="arabicPeriod"/>
            </a:pPr>
            <a:r>
              <a:rPr lang="en" sz="1000">
                <a:solidFill>
                  <a:srgbClr val="595959"/>
                </a:solidFill>
                <a:latin typeface="Platypi"/>
                <a:ea typeface="Platypi"/>
                <a:cs typeface="Platypi"/>
                <a:sym typeface="Platypi"/>
              </a:rPr>
              <a:t>Knox inputs:</a:t>
            </a:r>
            <a:endParaRPr sz="10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Designs</a:t>
            </a:r>
            <a:endParaRPr sz="6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Parts </a:t>
            </a:r>
            <a:endParaRPr sz="600">
              <a:solidFill>
                <a:srgbClr val="595959"/>
              </a:solidFill>
              <a:latin typeface="Platypi"/>
              <a:ea typeface="Platypi"/>
              <a:cs typeface="Platypi"/>
              <a:sym typeface="Platypi"/>
            </a:endParaRPr>
          </a:p>
          <a:p>
            <a:pPr indent="-266700" lvl="1" marL="914400" rtl="0" algn="l">
              <a:lnSpc>
                <a:spcPct val="115000"/>
              </a:lnSpc>
              <a:spcBef>
                <a:spcPts val="0"/>
              </a:spcBef>
              <a:spcAft>
                <a:spcPts val="0"/>
              </a:spcAft>
              <a:buClr>
                <a:srgbClr val="595959"/>
              </a:buClr>
              <a:buSzPts val="600"/>
              <a:buFont typeface="Platypi"/>
              <a:buAutoNum type="alphaLcPeriod"/>
            </a:pPr>
            <a:r>
              <a:rPr lang="en" sz="600">
                <a:solidFill>
                  <a:srgbClr val="595959"/>
                </a:solidFill>
                <a:latin typeface="Platypi"/>
                <a:ea typeface="Platypi"/>
                <a:cs typeface="Platypi"/>
                <a:sym typeface="Platypi"/>
              </a:rPr>
              <a:t>Rules (user-defined)</a:t>
            </a:r>
            <a:endParaRPr sz="600">
              <a:solidFill>
                <a:srgbClr val="595959"/>
              </a:solidFill>
              <a:latin typeface="Platypi"/>
              <a:ea typeface="Platypi"/>
              <a:cs typeface="Platypi"/>
              <a:sym typeface="Platypi"/>
            </a:endParaRPr>
          </a:p>
          <a:p>
            <a:pPr indent="0" lvl="0" marL="0" rtl="0" algn="l">
              <a:spcBef>
                <a:spcPts val="1200"/>
              </a:spcBef>
              <a:spcAft>
                <a:spcPts val="0"/>
              </a:spcAft>
              <a:buNone/>
            </a:pPr>
            <a:r>
              <a:t/>
            </a:r>
            <a:endParaRPr sz="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76efeafba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76efeafb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Juliette</a:t>
            </a:r>
            <a:endParaRPr/>
          </a:p>
          <a:p>
            <a:pPr indent="0" lvl="0" marL="0" rtl="0" algn="l">
              <a:spcBef>
                <a:spcPts val="0"/>
              </a:spcBef>
              <a:spcAft>
                <a:spcPts val="0"/>
              </a:spcAft>
              <a:buNone/>
            </a:pPr>
            <a:r>
              <a:t/>
            </a:r>
            <a:endParaRPr/>
          </a:p>
          <a:p>
            <a:pPr indent="-298450" lvl="0" marL="457200" rtl="0" algn="l">
              <a:lnSpc>
                <a:spcPct val="150000"/>
              </a:lnSpc>
              <a:spcBef>
                <a:spcPts val="0"/>
              </a:spcBef>
              <a:spcAft>
                <a:spcPts val="0"/>
              </a:spcAft>
              <a:buSzPts val="1100"/>
              <a:buChar char="-"/>
            </a:pPr>
            <a:r>
              <a:rPr lang="en" sz="1800">
                <a:solidFill>
                  <a:srgbClr val="595959"/>
                </a:solidFill>
                <a:latin typeface="Platypi"/>
                <a:ea typeface="Platypi"/>
                <a:cs typeface="Platypi"/>
                <a:sym typeface="Platypi"/>
              </a:rPr>
              <a:t>Includes placeholders - dataset mainly gives behavioral measurements rather than full sequence level parts</a:t>
            </a:r>
            <a:endParaRPr sz="1800">
              <a:solidFill>
                <a:srgbClr val="595959"/>
              </a:solidFill>
              <a:latin typeface="Platypi"/>
              <a:ea typeface="Platypi"/>
              <a:cs typeface="Platypi"/>
              <a:sym typeface="Platypi"/>
            </a:endParaRPr>
          </a:p>
          <a:p>
            <a:pPr indent="-289243" lvl="0" marL="457200" rtl="0" algn="l">
              <a:lnSpc>
                <a:spcPct val="150000"/>
              </a:lnSpc>
              <a:spcBef>
                <a:spcPts val="0"/>
              </a:spcBef>
              <a:spcAft>
                <a:spcPts val="0"/>
              </a:spcAft>
              <a:buClr>
                <a:srgbClr val="595959"/>
              </a:buClr>
              <a:buSzPts val="955"/>
              <a:buFont typeface="Platypi"/>
              <a:buChar char="-"/>
            </a:pPr>
            <a:r>
              <a:rPr lang="en" sz="955">
                <a:solidFill>
                  <a:srgbClr val="595959"/>
                </a:solidFill>
                <a:latin typeface="Platypi"/>
                <a:ea typeface="Platypi"/>
                <a:cs typeface="Platypi"/>
                <a:sym typeface="Platypi"/>
              </a:rPr>
              <a:t> Model entry: Hill model (parameters inferred from measured low/high behavior) </a:t>
            </a:r>
            <a:endParaRPr sz="955">
              <a:solidFill>
                <a:srgbClr val="595959"/>
              </a:solidFill>
              <a:latin typeface="Platypi"/>
              <a:ea typeface="Platypi"/>
              <a:cs typeface="Platypi"/>
              <a:sym typeface="Platypi"/>
            </a:endParaRPr>
          </a:p>
          <a:p>
            <a:pPr indent="-277178" lvl="1" marL="914400" rtl="0" algn="l">
              <a:lnSpc>
                <a:spcPct val="150000"/>
              </a:lnSpc>
              <a:spcBef>
                <a:spcPts val="0"/>
              </a:spcBef>
              <a:spcAft>
                <a:spcPts val="0"/>
              </a:spcAft>
              <a:buClr>
                <a:srgbClr val="595959"/>
              </a:buClr>
              <a:buSzPts val="765"/>
              <a:buFont typeface="Platypi"/>
              <a:buAutoNum type="alphaLcPeriod"/>
            </a:pPr>
            <a:r>
              <a:rPr b="1" lang="en" sz="765">
                <a:solidFill>
                  <a:srgbClr val="595959"/>
                </a:solidFill>
                <a:latin typeface="Platypi"/>
                <a:ea typeface="Platypi"/>
                <a:cs typeface="Platypi"/>
                <a:sym typeface="Platypi"/>
              </a:rPr>
              <a:t>y_min =&gt; basal expression</a:t>
            </a:r>
            <a:endParaRPr b="1" sz="765">
              <a:solidFill>
                <a:srgbClr val="595959"/>
              </a:solidFill>
              <a:latin typeface="Platypi"/>
              <a:ea typeface="Platypi"/>
              <a:cs typeface="Platypi"/>
              <a:sym typeface="Platypi"/>
            </a:endParaRPr>
          </a:p>
          <a:p>
            <a:pPr indent="-277178" lvl="1" marL="914400" rtl="0" algn="l">
              <a:lnSpc>
                <a:spcPct val="150000"/>
              </a:lnSpc>
              <a:spcBef>
                <a:spcPts val="0"/>
              </a:spcBef>
              <a:spcAft>
                <a:spcPts val="0"/>
              </a:spcAft>
              <a:buClr>
                <a:srgbClr val="595959"/>
              </a:buClr>
              <a:buSzPts val="765"/>
              <a:buFont typeface="Platypi"/>
              <a:buAutoNum type="alphaLcPeriod"/>
            </a:pPr>
            <a:r>
              <a:rPr b="1" lang="en" sz="765">
                <a:solidFill>
                  <a:srgbClr val="595959"/>
                </a:solidFill>
                <a:latin typeface="Platypi"/>
                <a:ea typeface="Platypi"/>
                <a:cs typeface="Platypi"/>
                <a:sym typeface="Platypi"/>
              </a:rPr>
              <a:t>y_max =&gt; induced expression</a:t>
            </a:r>
            <a:endParaRPr b="1" sz="765">
              <a:solidFill>
                <a:srgbClr val="595959"/>
              </a:solidFill>
              <a:latin typeface="Platypi"/>
              <a:ea typeface="Platypi"/>
              <a:cs typeface="Platypi"/>
              <a:sym typeface="Platypi"/>
            </a:endParaRPr>
          </a:p>
          <a:p>
            <a:pPr indent="-277178" lvl="1" marL="914400" rtl="0" algn="l">
              <a:lnSpc>
                <a:spcPct val="150000"/>
              </a:lnSpc>
              <a:spcBef>
                <a:spcPts val="0"/>
              </a:spcBef>
              <a:spcAft>
                <a:spcPts val="0"/>
              </a:spcAft>
              <a:buClr>
                <a:srgbClr val="595959"/>
              </a:buClr>
              <a:buSzPts val="765"/>
              <a:buFont typeface="Platypi"/>
              <a:buAutoNum type="alphaLcPeriod"/>
            </a:pPr>
            <a:r>
              <a:rPr b="1" lang="en" sz="765">
                <a:solidFill>
                  <a:srgbClr val="595959"/>
                </a:solidFill>
                <a:latin typeface="Platypi"/>
                <a:ea typeface="Platypi"/>
                <a:cs typeface="Platypi"/>
                <a:sym typeface="Platypi"/>
              </a:rPr>
              <a:t>K =&gt; dynamic range</a:t>
            </a:r>
            <a:endParaRPr b="1" sz="765">
              <a:solidFill>
                <a:srgbClr val="595959"/>
              </a:solidFill>
              <a:latin typeface="Platypi"/>
              <a:ea typeface="Platypi"/>
              <a:cs typeface="Platypi"/>
              <a:sym typeface="Platypi"/>
            </a:endParaRPr>
          </a:p>
          <a:p>
            <a:pPr indent="-277178" lvl="1" marL="914400" rtl="0" algn="l">
              <a:lnSpc>
                <a:spcPct val="150000"/>
              </a:lnSpc>
              <a:spcBef>
                <a:spcPts val="0"/>
              </a:spcBef>
              <a:spcAft>
                <a:spcPts val="0"/>
              </a:spcAft>
              <a:buClr>
                <a:srgbClr val="595959"/>
              </a:buClr>
              <a:buSzPts val="765"/>
              <a:buFont typeface="Platypi"/>
              <a:buAutoNum type="alphaLcPeriod"/>
            </a:pPr>
            <a:r>
              <a:rPr b="1" lang="en" sz="765">
                <a:solidFill>
                  <a:srgbClr val="595959"/>
                </a:solidFill>
                <a:latin typeface="Platypi"/>
                <a:ea typeface="Platypi"/>
                <a:cs typeface="Platypi"/>
                <a:sym typeface="Platypi"/>
              </a:rPr>
              <a:t>N =&gt; fold-change regime</a:t>
            </a:r>
            <a:endParaRPr b="1" sz="765">
              <a:solidFill>
                <a:srgbClr val="595959"/>
              </a:solidFill>
              <a:latin typeface="Platypi"/>
              <a:ea typeface="Platypi"/>
              <a:cs typeface="Platypi"/>
              <a:sym typeface="Platypi"/>
            </a:endParaRPr>
          </a:p>
          <a:p>
            <a:pPr indent="0" lvl="0" marL="0" rtl="0" algn="l">
              <a:lnSpc>
                <a:spcPct val="150000"/>
              </a:lnSpc>
              <a:spcBef>
                <a:spcPts val="0"/>
              </a:spcBef>
              <a:spcAft>
                <a:spcPts val="0"/>
              </a:spcAft>
              <a:buNone/>
            </a:pPr>
            <a:r>
              <a:rPr lang="en" sz="955">
                <a:solidFill>
                  <a:srgbClr val="595959"/>
                </a:solidFill>
                <a:latin typeface="Platypi"/>
                <a:ea typeface="Platypi"/>
                <a:cs typeface="Platypi"/>
                <a:sym typeface="Platypi"/>
              </a:rPr>
              <a:t>Structure: how each gate is organized in terms of components (Promoter input, Terminator slots, Reporter unit)</a:t>
            </a:r>
            <a:endParaRPr sz="1800">
              <a:solidFill>
                <a:srgbClr val="595959"/>
              </a:solidFill>
              <a:latin typeface="Platypi"/>
              <a:ea typeface="Platypi"/>
              <a:cs typeface="Platypi"/>
              <a:sym typeface="Platyp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76efeafba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76efeafb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Meredith - This slide walks through the step-by-step data pipeline that feeds into RuleScape. We start by loading the CLASSIC dataset, then parsing the keys of the .mat file into two data frames — an assignment data frame that tracks part assignments for each design, and an expression data frame that holds the measured expression values.</a:t>
            </a:r>
            <a:endParaRPr/>
          </a:p>
          <a:p>
            <a:pPr indent="0" lvl="0" marL="0" rtl="0" algn="l">
              <a:lnSpc>
                <a:spcPct val="115000"/>
              </a:lnSpc>
              <a:spcBef>
                <a:spcPts val="1200"/>
              </a:spcBef>
              <a:spcAft>
                <a:spcPts val="0"/>
              </a:spcAft>
              <a:buClr>
                <a:schemeClr val="dk1"/>
              </a:buClr>
              <a:buSzPts val="1100"/>
              <a:buFont typeface="Arial"/>
              <a:buNone/>
            </a:pPr>
            <a:r>
              <a:rPr lang="en"/>
              <a:t>From there, we build the part library by mapping column prefixes to their corresponding part types, such as CDS and Promoter. Each part is given a unique ID based on its column number and component ID, and the result is exported as the part library.</a:t>
            </a:r>
            <a:endParaRPr/>
          </a:p>
          <a:p>
            <a:pPr indent="0" lvl="0" marL="0" rtl="0" algn="l">
              <a:lnSpc>
                <a:spcPct val="115000"/>
              </a:lnSpc>
              <a:spcBef>
                <a:spcPts val="1200"/>
              </a:spcBef>
              <a:spcAft>
                <a:spcPts val="0"/>
              </a:spcAft>
              <a:buClr>
                <a:schemeClr val="dk1"/>
              </a:buClr>
              <a:buSzPts val="1100"/>
              <a:buFont typeface="Arial"/>
              <a:buNone/>
            </a:pPr>
            <a:r>
              <a:rPr lang="en"/>
              <a:t>Next, we build the designs library by converting each row of the assignment data frame into a comma-separated string of part IDs, where each row represents one complete circuit design.</a:t>
            </a:r>
            <a:endParaRPr/>
          </a:p>
          <a:p>
            <a:pPr indent="0" lvl="0" marL="0" rtl="0" algn="l">
              <a:lnSpc>
                <a:spcPct val="115000"/>
              </a:lnSpc>
              <a:spcBef>
                <a:spcPts val="1200"/>
              </a:spcBef>
              <a:spcAft>
                <a:spcPts val="0"/>
              </a:spcAft>
              <a:buClr>
                <a:schemeClr val="dk1"/>
              </a:buClr>
              <a:buSzPts val="1100"/>
              <a:buFont typeface="Arial"/>
              <a:buNone/>
            </a:pPr>
            <a:r>
              <a:rPr lang="en"/>
              <a:t>Both the part library and designs library are then exported as CSV files — part_library.csv and designs.csv — which serve as inputs for the next stage.</a:t>
            </a:r>
            <a:endParaRPr/>
          </a:p>
          <a:p>
            <a:pPr indent="0" lvl="0" marL="0" rtl="0" algn="l">
              <a:lnSpc>
                <a:spcPct val="115000"/>
              </a:lnSpc>
              <a:spcBef>
                <a:spcPts val="1200"/>
              </a:spcBef>
              <a:spcAft>
                <a:spcPts val="0"/>
              </a:spcAft>
              <a:buClr>
                <a:schemeClr val="dk1"/>
              </a:buClr>
              <a:buSzPts val="1100"/>
              <a:buFont typeface="Arial"/>
              <a:buNone/>
            </a:pPr>
            <a:r>
              <a:rPr lang="en"/>
              <a:t>A rules CSV file is then generated using GOLDBAR, defining the rule set that will be evaluated against the designs.</a:t>
            </a:r>
            <a:endParaRPr/>
          </a:p>
          <a:p>
            <a:pPr indent="0" lvl="0" marL="0" rtl="0" algn="l">
              <a:lnSpc>
                <a:spcPct val="115000"/>
              </a:lnSpc>
              <a:spcBef>
                <a:spcPts val="1200"/>
              </a:spcBef>
              <a:spcAft>
                <a:spcPts val="0"/>
              </a:spcAft>
              <a:buClr>
                <a:schemeClr val="dk1"/>
              </a:buClr>
              <a:buSzPts val="1100"/>
              <a:buFont typeface="Arial"/>
              <a:buNone/>
            </a:pPr>
            <a:r>
              <a:rPr lang="en"/>
              <a:t>Finally, everything is imported into Knox — the part library, designs, and rules CSV files. In parallel, the expression outputs from Cello are converted into a CSV file and also imported into Knox, setting up the scoring and ranking stage.</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792e7117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792e7117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Electra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generating designs scores in Cello and performing the rule evaluation in Knox, the ML pipeline in Python is used to identify top contributing rules to model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start, within the GUI the user specifies what ML models to run, the test/train split, and the top contributing N number of rules to return. When the click runML, the </a:t>
            </a:r>
            <a:r>
              <a:rPr lang="en"/>
              <a:t>workflow</a:t>
            </a:r>
            <a:r>
              <a:rPr lang="en"/>
              <a:t> takes in these user parameters along with the </a:t>
            </a:r>
            <a:r>
              <a:rPr lang="en"/>
              <a:t>parameters</a:t>
            </a:r>
            <a:r>
              <a:rPr lang="en"/>
              <a:t> EvalName, DesignID, and GroupID from the Knox rule evaluation. These inputs are packages into a JSON and sent to a FASST API backend that validates the inputs and passes them into the python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next step in the pipeline is using these parameters to call the Knox API and </a:t>
            </a:r>
            <a:r>
              <a:rPr lang="en"/>
              <a:t>retrieve</a:t>
            </a:r>
            <a:r>
              <a:rPr lang="en"/>
              <a:t> the design-to-rule dataframe, is provides a binary matrix of whether each rule is followed ine each design. This is passed into the ML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Within the ML pipeline, the design-to-rule dataframe is transformed for ML analysis including performance scores (from Cello), and labels (good or bad </a:t>
            </a:r>
            <a:r>
              <a:rPr lang="en"/>
              <a:t>for</a:t>
            </a:r>
            <a:r>
              <a:rPr lang="en"/>
              <a:t> binary classification). Then the dataset is split into testing and training sets, and each model selected by the user is trained, </a:t>
            </a:r>
            <a:r>
              <a:rPr lang="en"/>
              <a:t>evaluated</a:t>
            </a:r>
            <a:r>
              <a:rPr lang="en"/>
              <a:t>, and used to extract top contributing N </a:t>
            </a:r>
            <a:r>
              <a:rPr lang="en"/>
              <a:t>rules</a:t>
            </a:r>
            <a:r>
              <a:rPr lang="en"/>
              <a:t>. The models available through RuleScape include XGboost, binary </a:t>
            </a:r>
            <a:r>
              <a:rPr lang="en"/>
              <a:t>decision</a:t>
            </a:r>
            <a:r>
              <a:rPr lang="en"/>
              <a:t> tree, regression </a:t>
            </a:r>
            <a:r>
              <a:rPr lang="en"/>
              <a:t>decision tree, and random forest.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a:t>
            </a:r>
            <a:r>
              <a:rPr lang="en"/>
              <a:t>results</a:t>
            </a:r>
            <a:r>
              <a:rPr lang="en"/>
              <a:t> are aggregated afterwards into a JSON response that is rendered within the GUI. The overall output for the user is each model’s name, its corresponding accuracy, and a list of the top N features and their corresponding contribution scores.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Bullet Notes</a:t>
            </a:r>
            <a:endParaRPr/>
          </a:p>
          <a:p>
            <a:pPr indent="0" lvl="0" marL="0" rtl="0" algn="l">
              <a:spcBef>
                <a:spcPts val="0"/>
              </a:spcBef>
              <a:spcAft>
                <a:spcPts val="0"/>
              </a:spcAft>
              <a:buNone/>
            </a:pPr>
            <a:r>
              <a:rPr b="1" lang="en"/>
              <a:t>Inputs:</a:t>
            </a:r>
            <a:endParaRPr b="1"/>
          </a:p>
          <a:p>
            <a:pPr indent="-298450" lvl="0" marL="457200" rtl="0" algn="l">
              <a:spcBef>
                <a:spcPts val="0"/>
              </a:spcBef>
              <a:spcAft>
                <a:spcPts val="0"/>
              </a:spcAft>
              <a:buSzPts val="1100"/>
              <a:buChar char="●"/>
            </a:pPr>
            <a:r>
              <a:rPr lang="en"/>
              <a:t>User inputs:</a:t>
            </a:r>
            <a:endParaRPr/>
          </a:p>
          <a:p>
            <a:pPr indent="-298450" lvl="1" marL="914400" rtl="0" algn="l">
              <a:spcBef>
                <a:spcPts val="0"/>
              </a:spcBef>
              <a:spcAft>
                <a:spcPts val="0"/>
              </a:spcAft>
              <a:buSzPts val="1100"/>
              <a:buChar char="○"/>
            </a:pPr>
            <a:r>
              <a:rPr lang="en"/>
              <a:t>Selects models to run</a:t>
            </a:r>
            <a:endParaRPr/>
          </a:p>
          <a:p>
            <a:pPr indent="-298450" lvl="1" marL="914400" rtl="0" algn="l">
              <a:spcBef>
                <a:spcPts val="0"/>
              </a:spcBef>
              <a:spcAft>
                <a:spcPts val="0"/>
              </a:spcAft>
              <a:buSzPts val="1100"/>
              <a:buChar char="○"/>
            </a:pPr>
            <a:r>
              <a:rPr lang="en"/>
              <a:t>Sets parameters for train/test split, and number of top contributing rules to return</a:t>
            </a:r>
            <a:endParaRPr/>
          </a:p>
          <a:p>
            <a:pPr indent="-298450" lvl="1" marL="914400" rtl="0" algn="l">
              <a:spcBef>
                <a:spcPts val="0"/>
              </a:spcBef>
              <a:spcAft>
                <a:spcPts val="0"/>
              </a:spcAft>
              <a:buSzPts val="1100"/>
              <a:buChar char="○"/>
            </a:pPr>
            <a:r>
              <a:rPr lang="en"/>
              <a:t>Clicks RunML</a:t>
            </a:r>
            <a:endParaRPr/>
          </a:p>
          <a:p>
            <a:pPr indent="-298450" lvl="0" marL="457200" rtl="0" algn="l">
              <a:spcBef>
                <a:spcPts val="0"/>
              </a:spcBef>
              <a:spcAft>
                <a:spcPts val="0"/>
              </a:spcAft>
              <a:buSzPts val="1100"/>
              <a:buChar char="●"/>
            </a:pPr>
            <a:r>
              <a:rPr lang="en"/>
              <a:t>KnoxStage inputs:</a:t>
            </a:r>
            <a:endParaRPr/>
          </a:p>
          <a:p>
            <a:pPr indent="-298450" lvl="1" marL="914400" rtl="0" algn="l">
              <a:spcBef>
                <a:spcPts val="0"/>
              </a:spcBef>
              <a:spcAft>
                <a:spcPts val="0"/>
              </a:spcAft>
              <a:buSzPts val="1100"/>
              <a:buChar char="○"/>
            </a:pPr>
            <a:r>
              <a:rPr lang="en"/>
              <a:t>DesignID</a:t>
            </a:r>
            <a:endParaRPr/>
          </a:p>
          <a:p>
            <a:pPr indent="-298450" lvl="1" marL="914400" rtl="0" algn="l">
              <a:spcBef>
                <a:spcPts val="0"/>
              </a:spcBef>
              <a:spcAft>
                <a:spcPts val="0"/>
              </a:spcAft>
              <a:buSzPts val="1100"/>
              <a:buChar char="○"/>
            </a:pPr>
            <a:r>
              <a:rPr lang="en"/>
              <a:t>GroupID</a:t>
            </a:r>
            <a:endParaRPr/>
          </a:p>
          <a:p>
            <a:pPr indent="-298450" lvl="1" marL="914400" rtl="0" algn="l">
              <a:spcBef>
                <a:spcPts val="0"/>
              </a:spcBef>
              <a:spcAft>
                <a:spcPts val="0"/>
              </a:spcAft>
              <a:buSzPts val="1100"/>
              <a:buChar char="○"/>
            </a:pPr>
            <a:r>
              <a:rPr lang="en"/>
              <a:t>EvalName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Fast API - when “RunML” button is clicked</a:t>
            </a:r>
            <a:endParaRPr b="1"/>
          </a:p>
          <a:p>
            <a:pPr indent="-298450" lvl="0" marL="457200" rtl="0" algn="l">
              <a:spcBef>
                <a:spcPts val="0"/>
              </a:spcBef>
              <a:spcAft>
                <a:spcPts val="0"/>
              </a:spcAft>
              <a:buSzPts val="1100"/>
              <a:buChar char="●"/>
            </a:pPr>
            <a:r>
              <a:rPr lang="en"/>
              <a:t>A post request is sent to the ML fast API in JSON format containing user parameters from mlStage and KnoxStage (prior)</a:t>
            </a:r>
            <a:endParaRPr/>
          </a:p>
          <a:p>
            <a:pPr indent="-298450" lvl="1" marL="914400" rtl="0" algn="l">
              <a:spcBef>
                <a:spcPts val="0"/>
              </a:spcBef>
              <a:spcAft>
                <a:spcPts val="0"/>
              </a:spcAft>
              <a:buSzPts val="1100"/>
              <a:buChar char="○"/>
            </a:pPr>
            <a:r>
              <a:rPr lang="en"/>
              <a:t>Ml_server.py receives request</a:t>
            </a:r>
            <a:endParaRPr/>
          </a:p>
          <a:p>
            <a:pPr indent="-298450" lvl="1" marL="914400" rtl="0" algn="l">
              <a:spcBef>
                <a:spcPts val="0"/>
              </a:spcBef>
              <a:spcAft>
                <a:spcPts val="0"/>
              </a:spcAft>
              <a:buSzPts val="1100"/>
              <a:buChar char="○"/>
            </a:pPr>
            <a:r>
              <a:rPr lang="en"/>
              <a:t>Ml_routes.py validates json and calls the model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Knox Extraction</a:t>
            </a:r>
            <a:endParaRPr/>
          </a:p>
          <a:p>
            <a:pPr indent="-298450" lvl="0" marL="457200" rtl="0" algn="l">
              <a:spcBef>
                <a:spcPts val="0"/>
              </a:spcBef>
              <a:spcAft>
                <a:spcPts val="0"/>
              </a:spcAft>
              <a:buClr>
                <a:schemeClr val="dk1"/>
              </a:buClr>
              <a:buSzPts val="1100"/>
              <a:buChar char="●"/>
            </a:pPr>
            <a:r>
              <a:rPr lang="en" u="sng">
                <a:solidFill>
                  <a:schemeClr val="hlink"/>
                </a:solidFill>
                <a:hlinkClick r:id="rId2"/>
              </a:rPr>
              <a:t>runner.py</a:t>
            </a:r>
            <a:r>
              <a:rPr lang="en">
                <a:solidFill>
                  <a:schemeClr val="dk1"/>
                </a:solidFill>
              </a:rPr>
              <a:t> -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Calls the Knox API to get the designtorule_df from the rule evaluation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Feeds designtorule_df and user selected parameters into the ML model pipeline</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t>ML Pipeline:</a:t>
            </a:r>
            <a:endParaRPr b="1"/>
          </a:p>
          <a:p>
            <a:pPr indent="-298450" lvl="0" marL="457200" rtl="0" algn="l">
              <a:spcBef>
                <a:spcPts val="0"/>
              </a:spcBef>
              <a:spcAft>
                <a:spcPts val="0"/>
              </a:spcAft>
              <a:buClr>
                <a:schemeClr val="dk1"/>
              </a:buClr>
              <a:buSzPts val="1100"/>
              <a:buChar char="●"/>
            </a:pPr>
            <a:r>
              <a:rPr lang="en"/>
              <a:t>pipeline.py</a:t>
            </a:r>
            <a:endParaRPr/>
          </a:p>
          <a:p>
            <a:pPr indent="-298450" lvl="1" marL="914400" rtl="0" algn="l">
              <a:spcBef>
                <a:spcPts val="0"/>
              </a:spcBef>
              <a:spcAft>
                <a:spcPts val="0"/>
              </a:spcAft>
              <a:buSzPts val="1100"/>
              <a:buChar char="○"/>
            </a:pPr>
            <a:r>
              <a:rPr lang="en"/>
              <a:t>Extracts the binary rules matrix, y_labels, y_scores, and feature_names from the designstorule_df</a:t>
            </a:r>
            <a:endParaRPr/>
          </a:p>
          <a:p>
            <a:pPr indent="-298450" lvl="1" marL="914400" rtl="0" algn="l">
              <a:spcBef>
                <a:spcPts val="0"/>
              </a:spcBef>
              <a:spcAft>
                <a:spcPts val="0"/>
              </a:spcAft>
              <a:buSzPts val="1100"/>
              <a:buChar char="○"/>
            </a:pPr>
            <a:r>
              <a:rPr lang="en"/>
              <a:t>Splits data into testing and traininsetss</a:t>
            </a:r>
            <a:endParaRPr/>
          </a:p>
          <a:p>
            <a:pPr indent="-298450" lvl="1" marL="914400" rtl="0" algn="l">
              <a:spcBef>
                <a:spcPts val="0"/>
              </a:spcBef>
              <a:spcAft>
                <a:spcPts val="0"/>
              </a:spcAft>
              <a:buSzPts val="1100"/>
              <a:buChar char="○"/>
            </a:pPr>
            <a:r>
              <a:rPr lang="en"/>
              <a:t>Calls and runs scripts for all user selected models</a:t>
            </a:r>
            <a:endParaRPr/>
          </a:p>
          <a:p>
            <a:pPr indent="-298450" lvl="1" marL="914400" rtl="0" algn="l">
              <a:spcBef>
                <a:spcPts val="0"/>
              </a:spcBef>
              <a:spcAft>
                <a:spcPts val="0"/>
              </a:spcAft>
              <a:buSzPts val="1100"/>
              <a:buChar char="○"/>
            </a:pPr>
            <a:r>
              <a:rPr lang="en"/>
              <a:t>Returns results from models</a:t>
            </a:r>
            <a:endParaRPr/>
          </a:p>
          <a:p>
            <a:pPr indent="-298450" lvl="2" marL="1371600" rtl="0" algn="l">
              <a:spcBef>
                <a:spcPts val="0"/>
              </a:spcBef>
              <a:spcAft>
                <a:spcPts val="0"/>
              </a:spcAft>
              <a:buClr>
                <a:schemeClr val="dk1"/>
              </a:buClr>
              <a:buSzPts val="1100"/>
              <a:buChar char="■"/>
            </a:pPr>
            <a:r>
              <a:rPr lang="en">
                <a:solidFill>
                  <a:schemeClr val="dk1"/>
                </a:solidFill>
              </a:rPr>
              <a:t>Accuracy</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Top N contributing features and their corresponding importance scores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Model summary including</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The model type</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Model Parameters</a:t>
            </a:r>
            <a:endParaRPr>
              <a:solidFill>
                <a:schemeClr val="dk1"/>
              </a:solidFill>
            </a:endParaRPr>
          </a:p>
          <a:p>
            <a:pPr indent="-298450" lvl="4" marL="2286000" rtl="0" algn="l">
              <a:spcBef>
                <a:spcPts val="0"/>
              </a:spcBef>
              <a:spcAft>
                <a:spcPts val="0"/>
              </a:spcAft>
              <a:buClr>
                <a:schemeClr val="dk1"/>
              </a:buClr>
              <a:buSzPts val="1100"/>
              <a:buChar char="○"/>
            </a:pPr>
            <a:r>
              <a:rPr lang="en">
                <a:solidFill>
                  <a:schemeClr val="dk1"/>
                </a:solidFill>
              </a:rPr>
              <a:t>max_depth</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Feature_count</a:t>
            </a:r>
            <a:endParaRPr/>
          </a:p>
          <a:p>
            <a:pPr indent="-298450" lvl="0" marL="457200" rtl="0" algn="l">
              <a:spcBef>
                <a:spcPts val="0"/>
              </a:spcBef>
              <a:spcAft>
                <a:spcPts val="0"/>
              </a:spcAft>
              <a:buSzPts val="1100"/>
              <a:buChar char="●"/>
            </a:pPr>
            <a:r>
              <a:rPr lang="en"/>
              <a:t>Model Scripts</a:t>
            </a:r>
            <a:endParaRPr/>
          </a:p>
          <a:p>
            <a:pPr indent="-298450" lvl="1" marL="914400" rtl="0" algn="l">
              <a:spcBef>
                <a:spcPts val="0"/>
              </a:spcBef>
              <a:spcAft>
                <a:spcPts val="0"/>
              </a:spcAft>
              <a:buSzPts val="1100"/>
              <a:buChar char="○"/>
            </a:pPr>
            <a:r>
              <a:rPr lang="en"/>
              <a:t>Take in the training and testing data, top rules to keep, and feature names from dataset</a:t>
            </a:r>
            <a:endParaRPr/>
          </a:p>
          <a:p>
            <a:pPr indent="-298450" lvl="1" marL="914400" rtl="0" algn="l">
              <a:spcBef>
                <a:spcPts val="0"/>
              </a:spcBef>
              <a:spcAft>
                <a:spcPts val="0"/>
              </a:spcAft>
              <a:buSzPts val="1100"/>
              <a:buChar char="○"/>
            </a:pPr>
            <a:r>
              <a:rPr lang="en"/>
              <a:t>Train model with training data</a:t>
            </a:r>
            <a:endParaRPr/>
          </a:p>
          <a:p>
            <a:pPr indent="-298450" lvl="1" marL="914400" rtl="0" algn="l">
              <a:spcBef>
                <a:spcPts val="0"/>
              </a:spcBef>
              <a:spcAft>
                <a:spcPts val="0"/>
              </a:spcAft>
              <a:buSzPts val="1100"/>
              <a:buChar char="○"/>
            </a:pPr>
            <a:r>
              <a:rPr lang="en"/>
              <a:t>Test model with testing data</a:t>
            </a:r>
            <a:endParaRPr/>
          </a:p>
          <a:p>
            <a:pPr indent="-298450" lvl="1" marL="914400" rtl="0" algn="l">
              <a:spcBef>
                <a:spcPts val="0"/>
              </a:spcBef>
              <a:spcAft>
                <a:spcPts val="0"/>
              </a:spcAft>
              <a:buSzPts val="1100"/>
              <a:buChar char="○"/>
            </a:pPr>
            <a:r>
              <a:rPr lang="en"/>
              <a:t>Calculate accuracy of testing prediction</a:t>
            </a:r>
            <a:endParaRPr/>
          </a:p>
          <a:p>
            <a:pPr indent="-298450" lvl="1" marL="914400" rtl="0" algn="l">
              <a:spcBef>
                <a:spcPts val="0"/>
              </a:spcBef>
              <a:spcAft>
                <a:spcPts val="0"/>
              </a:spcAft>
              <a:buSzPts val="1100"/>
              <a:buChar char="○"/>
            </a:pPr>
            <a:r>
              <a:rPr lang="en"/>
              <a:t>Extract top contributing rules</a:t>
            </a:r>
            <a:endParaRPr/>
          </a:p>
          <a:p>
            <a:pPr indent="-298450" lvl="1" marL="914400" rtl="0" algn="l">
              <a:spcBef>
                <a:spcPts val="0"/>
              </a:spcBef>
              <a:spcAft>
                <a:spcPts val="0"/>
              </a:spcAft>
              <a:buSzPts val="1100"/>
              <a:buChar char="○"/>
            </a:pPr>
            <a:r>
              <a:rPr lang="en"/>
              <a:t>Return results to the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GUI Rendering - outputs</a:t>
            </a:r>
            <a:endParaRPr b="1"/>
          </a:p>
          <a:p>
            <a:pPr indent="-298450" lvl="0" marL="457200" rtl="0" algn="l">
              <a:spcBef>
                <a:spcPts val="0"/>
              </a:spcBef>
              <a:spcAft>
                <a:spcPts val="0"/>
              </a:spcAft>
              <a:buSzPts val="1100"/>
              <a:buChar char="●"/>
            </a:pPr>
            <a:r>
              <a:rPr lang="en"/>
              <a:t>Recieves a JSON of the results that is parsed and formatted revealing to the user, the model type ran and its corresponding parameters, accuracy, and list of top contributing rules and performance scores.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784d22ec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784d22ec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walk through the RuleScape graphical interface and how it guides the user through the full pipeline.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app is structured as a 4-step linear pipeline designed for synthetic biology circuit design and rule evaluation. On the left side of the screen, you'll see a collapsible navigation sidebar showing the four steps numbered 01 through 04, with visual indicators for which step is active, complete, or upcoming. The main area displays the current step's content in a two-column layout — the stage view on the left and a run panel on the right where you configure parameters and trigger each stage.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Step 1 — Configure Cello.</a:t>
            </a:r>
            <a:r>
              <a:rPr lang="en">
                <a:solidFill>
                  <a:schemeClr val="dk1"/>
                </a:solidFill>
              </a:rPr>
              <a:t> The user starts by uploading or authoring four files: a Verilog file, a UCF file, and input and output JSON files. On the run panel, the user sets parameters like candidate count, top N, and search algorithm — either Exhaustive or Annealing. Clicking Run Cello sends these files to the Cello pipeline API, which returns generated CSV files and ranked candidates that carry forward into the next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Step 2 — Review Knox.</a:t>
            </a:r>
            <a:r>
              <a:rPr lang="en">
                <a:solidFill>
                  <a:schemeClr val="dk1"/>
                </a:solidFill>
              </a:rPr>
              <a:t> This stage has two sequential sub-tasks. First, the user imports a bundle — either using the CSV files generated by Cello, or uploading their own designs, part library, and optional weights file. Once the import succeeds, the second sub-task unlocks: the user provides a GOLDBAR rule expression and a categories file, then clicks Evaluate Rules. The results show a design-by-design rule pass/fail breakdown with a color-coded visualization of each part sequence.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Step 3 — Configure ML.</a:t>
            </a:r>
            <a:r>
              <a:rPr lang="en">
                <a:solidFill>
                  <a:schemeClr val="dk1"/>
                </a:solidFill>
              </a:rPr>
              <a:t> Here the user sets the train/test split using a slider, selects the top N features, and sets a score threshold. Clicking Run ML sends this configuration to the local ML server, which processes the Knox results and prepares the final rankings.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Step 4 — Review Results.</a:t>
            </a:r>
            <a:r>
              <a:rPr lang="en">
                <a:solidFill>
                  <a:schemeClr val="dk1"/>
                </a:solidFill>
              </a:rPr>
              <a:t> The final stage displays the ranked candidates, rule signals, and all generated artifacts from the previous steps, giving the user a complete picture of which circuit designs best satisfy the specified rules.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important feature running throughout the entire pipeline is service health monitoring. The app checks the Cello and Knox backend services every 5 seconds. If either service goes offline, the corresponding run button is automatically disabled and a status indicator updates in real time — so the user always knows whether the system is ready to run.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summarize the data flow: user inputs feed into Cello, whose outputs flow into Knox for rule evaluation, which then feeds the ML stage for final ranking. All intermediate results are held in the app's top-level state and passed forward through the pipeline automatically.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76efeafb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76efeafb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Trieu</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76efeafba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76efeafba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Juliette</a:t>
            </a:r>
            <a:endParaRPr/>
          </a:p>
          <a:p>
            <a:pPr indent="-342900" lvl="0" marL="457200" rtl="0" algn="l">
              <a:lnSpc>
                <a:spcPct val="115000"/>
              </a:lnSpc>
              <a:spcBef>
                <a:spcPts val="0"/>
              </a:spcBef>
              <a:spcAft>
                <a:spcPts val="0"/>
              </a:spcAft>
              <a:buClr>
                <a:srgbClr val="595959"/>
              </a:buClr>
              <a:buSzPts val="1800"/>
              <a:buFont typeface="Platypi"/>
              <a:buAutoNum type="arabicPeriod"/>
            </a:pPr>
            <a:r>
              <a:rPr lang="en" sz="1800">
                <a:solidFill>
                  <a:srgbClr val="595959"/>
                </a:solidFill>
                <a:latin typeface="Platypi"/>
                <a:ea typeface="Platypi"/>
                <a:cs typeface="Platypi"/>
                <a:sym typeface="Platypi"/>
              </a:rPr>
              <a:t>Trained model only works well if new datasets are in a similar design space </a:t>
            </a:r>
            <a:endParaRPr sz="18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Same types of parts</a:t>
            </a:r>
            <a:endParaRPr sz="14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Same architecture</a:t>
            </a:r>
            <a:endParaRPr sz="14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Same biological system</a:t>
            </a:r>
            <a:endParaRPr sz="1400">
              <a:solidFill>
                <a:srgbClr val="595959"/>
              </a:solidFill>
              <a:latin typeface="Platypi"/>
              <a:ea typeface="Platypi"/>
              <a:cs typeface="Platypi"/>
              <a:sym typeface="Platypi"/>
            </a:endParaRPr>
          </a:p>
          <a:p>
            <a:pPr indent="-342900" lvl="0" marL="457200" rtl="0" algn="l">
              <a:lnSpc>
                <a:spcPct val="115000"/>
              </a:lnSpc>
              <a:spcBef>
                <a:spcPts val="0"/>
              </a:spcBef>
              <a:spcAft>
                <a:spcPts val="0"/>
              </a:spcAft>
              <a:buClr>
                <a:srgbClr val="595959"/>
              </a:buClr>
              <a:buSzPts val="1800"/>
              <a:buFont typeface="Platypi"/>
              <a:buAutoNum type="arabicPeriod"/>
            </a:pPr>
            <a:r>
              <a:rPr lang="en" sz="1800">
                <a:solidFill>
                  <a:srgbClr val="595959"/>
                </a:solidFill>
                <a:latin typeface="Platypi"/>
                <a:ea typeface="Platypi"/>
                <a:cs typeface="Platypi"/>
                <a:sym typeface="Platypi"/>
              </a:rPr>
              <a:t>Script generating UCF and CSV files are dataframe structure dependent</a:t>
            </a:r>
            <a:endParaRPr sz="18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Naming conventions for each sheet in dataframe</a:t>
            </a:r>
            <a:endParaRPr sz="14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How each part is represented</a:t>
            </a:r>
            <a:endParaRPr sz="1400">
              <a:solidFill>
                <a:srgbClr val="595959"/>
              </a:solidFill>
              <a:latin typeface="Platypi"/>
              <a:ea typeface="Platypi"/>
              <a:cs typeface="Platypi"/>
              <a:sym typeface="Platypi"/>
            </a:endParaRPr>
          </a:p>
          <a:p>
            <a:pPr indent="-317500" lvl="1" marL="914400" rtl="0" algn="l">
              <a:lnSpc>
                <a:spcPct val="115000"/>
              </a:lnSpc>
              <a:spcBef>
                <a:spcPts val="0"/>
              </a:spcBef>
              <a:spcAft>
                <a:spcPts val="0"/>
              </a:spcAft>
              <a:buClr>
                <a:srgbClr val="595959"/>
              </a:buClr>
              <a:buSzPts val="1400"/>
              <a:buFont typeface="Platypi"/>
              <a:buChar char="-"/>
            </a:pPr>
            <a:r>
              <a:rPr lang="en" sz="1400">
                <a:solidFill>
                  <a:srgbClr val="595959"/>
                </a:solidFill>
                <a:latin typeface="Platypi"/>
                <a:ea typeface="Platypi"/>
                <a:cs typeface="Platypi"/>
                <a:sym typeface="Platypi"/>
              </a:rPr>
              <a:t>Size of design</a:t>
            </a:r>
            <a:endParaRPr sz="1400">
              <a:solidFill>
                <a:srgbClr val="595959"/>
              </a:solidFill>
              <a:latin typeface="Platypi"/>
              <a:ea typeface="Platypi"/>
              <a:cs typeface="Platypi"/>
              <a:sym typeface="Platypi"/>
            </a:endParaRPr>
          </a:p>
          <a:p>
            <a:pPr indent="0" lvl="0" marL="457200" rtl="0" algn="l">
              <a:lnSpc>
                <a:spcPct val="115000"/>
              </a:lnSpc>
              <a:spcBef>
                <a:spcPts val="1200"/>
              </a:spcBef>
              <a:spcAft>
                <a:spcPts val="0"/>
              </a:spcAft>
              <a:buClr>
                <a:schemeClr val="dk1"/>
              </a:buClr>
              <a:buSzPts val="1100"/>
              <a:buFont typeface="Arial"/>
              <a:buNone/>
            </a:pPr>
            <a:r>
              <a:t/>
            </a:r>
            <a:endParaRPr sz="1800">
              <a:solidFill>
                <a:srgbClr val="595959"/>
              </a:solidFill>
              <a:latin typeface="Platypi"/>
              <a:ea typeface="Platypi"/>
              <a:cs typeface="Platypi"/>
              <a:sym typeface="Platypi"/>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792e7117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9792e7117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Electra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our project, we overall met our goal and </a:t>
            </a:r>
            <a:r>
              <a:rPr lang="en"/>
              <a:t>delivered</a:t>
            </a:r>
            <a:r>
              <a:rPr lang="en"/>
              <a:t> a complete project. Many of our success align with our project tasks and goals.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SUCCESSES</a:t>
            </a:r>
            <a:endParaRPr/>
          </a:p>
          <a:p>
            <a:pPr indent="0" lvl="0" marL="0" rtl="0" algn="l">
              <a:spcBef>
                <a:spcPts val="0"/>
              </a:spcBef>
              <a:spcAft>
                <a:spcPts val="0"/>
              </a:spcAft>
              <a:buNone/>
            </a:pPr>
            <a:r>
              <a:rPr lang="en"/>
              <a:t>A </a:t>
            </a:r>
            <a:r>
              <a:rPr lang="en"/>
              <a:t>major</a:t>
            </a:r>
            <a:r>
              <a:rPr lang="en"/>
              <a:t> challenge and win was the successful generation of UCF files and designs from a real dataset, which was necessary to predict design performances. We also </a:t>
            </a:r>
            <a:r>
              <a:rPr lang="en"/>
              <a:t>successfully</a:t>
            </a:r>
            <a:r>
              <a:rPr lang="en"/>
              <a:t> completed our </a:t>
            </a:r>
            <a:r>
              <a:rPr lang="en"/>
              <a:t>overarching</a:t>
            </a:r>
            <a:r>
              <a:rPr lang="en"/>
              <a:t> project of creating an automated pipeline fully accessible through out GUI that run from design performance prediction in Cello to rule evaluation in Knox to machine learning used to identify top contributing rules in given designs.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team </a:t>
            </a:r>
            <a:r>
              <a:rPr lang="en"/>
              <a:t>members</a:t>
            </a:r>
            <a:r>
              <a:rPr lang="en"/>
              <a:t> were also actively involved and work was well distributed across team members within this project according to capabilities, interest and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FAILURES/CHALLENGES</a:t>
            </a:r>
            <a:endParaRPr/>
          </a:p>
          <a:p>
            <a:pPr indent="0" lvl="0" marL="0" rtl="0" algn="l">
              <a:spcBef>
                <a:spcPts val="0"/>
              </a:spcBef>
              <a:spcAft>
                <a:spcPts val="0"/>
              </a:spcAft>
              <a:buNone/>
            </a:pPr>
            <a:r>
              <a:rPr lang="en"/>
              <a:t>Despite our success, there were some times the </a:t>
            </a:r>
            <a:r>
              <a:rPr lang="en"/>
              <a:t>project</a:t>
            </a:r>
            <a:r>
              <a:rPr lang="en"/>
              <a:t> did not work out as planned in terms of our team organization and more ambitious deliverables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Regarding team organization, we did not keep up with our timeline well, especially as many of use have other jobs and commitments, resulting in great risk as the deadline approached. This was further compouinded by our group considering different </a:t>
            </a:r>
            <a:r>
              <a:rPr lang="en"/>
              <a:t>angles</a:t>
            </a:r>
            <a:r>
              <a:rPr lang="en"/>
              <a:t> for our project and shifting directions, which was not always communicated well across the group causing misalignment and confusion at times. We definitely should’ve spent more time concretely </a:t>
            </a:r>
            <a:r>
              <a:rPr lang="en"/>
              <a:t>defining our project and regularly discussion work with each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Regarding deliverables, there were some initial project hopes never realized due to feasibility and time constraints. One would be amazing goal was to automate the creation of UCFs for any dataset, but this was challenging due to lack of available biological data and the complex architecture UCF the file. We also had issues with scaling the creation of designs with the UCF and running very large datasets in the pipeline due to the complexity. Finally, we had hoped to implement a border array of ML models beyond tree-based.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combination of our individual work was also a major bottleneck, and we failed to realize how difficult GUI integration is, and struggled understand the inputs, specfiications, and outputs of other members parts.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we should have made more efforts ahead of time in the project to clearly defined its scope and scale back on some of the ambition or complete more prerequisite research first. We found it was easy to have grand ideas that are difficult or unfeasible to implement.</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780b9c457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780b9c457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Meredith - To wrap up, RuleScape successfully achieves its core goal — connecting Cello and Knox into a unified pipeline that ranks rules based on expression scores, giving synthetic biologists a streamlined tool for circuit design evaluation.</a:t>
            </a:r>
            <a:endParaRPr/>
          </a:p>
          <a:p>
            <a:pPr indent="0" lvl="0" marL="0" rtl="0" algn="l">
              <a:lnSpc>
                <a:spcPct val="115000"/>
              </a:lnSpc>
              <a:spcBef>
                <a:spcPts val="1200"/>
              </a:spcBef>
              <a:spcAft>
                <a:spcPts val="0"/>
              </a:spcAft>
              <a:buClr>
                <a:schemeClr val="dk1"/>
              </a:buClr>
              <a:buSzPts val="1100"/>
              <a:buFont typeface="Arial"/>
              <a:buNone/>
            </a:pPr>
            <a:r>
              <a:rPr lang="en"/>
              <a:t>Looking ahead, there are several exciting directions for future development. First, we'd like to integrate a large language model for data parsing, which would automate the input formatting process and reduce the manual effort required to prepare files for the pipeline. Similarly, an LLM could be used for rule generation, automatically producing valid GOLDBAR rules from higher-level user descriptions rather than requiring users to write them by hand.</a:t>
            </a:r>
            <a:endParaRPr/>
          </a:p>
          <a:p>
            <a:pPr indent="0" lvl="0" marL="0" rtl="0" algn="l">
              <a:lnSpc>
                <a:spcPct val="115000"/>
              </a:lnSpc>
              <a:spcBef>
                <a:spcPts val="1200"/>
              </a:spcBef>
              <a:spcAft>
                <a:spcPts val="0"/>
              </a:spcAft>
              <a:buClr>
                <a:schemeClr val="dk1"/>
              </a:buClr>
              <a:buSzPts val="1100"/>
              <a:buFont typeface="Arial"/>
              <a:buNone/>
            </a:pPr>
            <a:r>
              <a:rPr lang="en"/>
              <a:t>On the machine learning side, incorporating additional models beyond the current decision tree approach would improve the depth and accuracy of the analysis. Expanding the dataset used for training would also strengthen the model's ability to generalize across a wider range of circuit designs.</a:t>
            </a:r>
            <a:endParaRPr/>
          </a:p>
          <a:p>
            <a:pPr indent="0" lvl="0" marL="0" rtl="0" algn="l">
              <a:lnSpc>
                <a:spcPct val="115000"/>
              </a:lnSpc>
              <a:spcBef>
                <a:spcPts val="1200"/>
              </a:spcBef>
              <a:spcAft>
                <a:spcPts val="0"/>
              </a:spcAft>
              <a:buClr>
                <a:schemeClr val="dk1"/>
              </a:buClr>
              <a:buSzPts val="1100"/>
              <a:buFont typeface="Arial"/>
              <a:buNone/>
            </a:pPr>
            <a:r>
              <a:rPr lang="en"/>
              <a:t>Finally, and perhaps most importantly, wet lab validation would ground RuleScape's results in real-world confirmation — verifying that the rules and rankings the system produces actually hold up in a physical biology setting.</a:t>
            </a:r>
            <a:endParaRPr/>
          </a:p>
          <a:p>
            <a:pPr indent="0" lvl="0" marL="0" rtl="0" algn="l">
              <a:lnSpc>
                <a:spcPct val="115000"/>
              </a:lnSpc>
              <a:spcBef>
                <a:spcPts val="1200"/>
              </a:spcBef>
              <a:spcAft>
                <a:spcPts val="0"/>
              </a:spcAft>
              <a:buClr>
                <a:schemeClr val="dk1"/>
              </a:buClr>
              <a:buSzPts val="1100"/>
              <a:buFont typeface="Arial"/>
              <a:buNone/>
            </a:pPr>
            <a:r>
              <a:rPr lang="en"/>
              <a:t>Together, these improvements would move RuleScape from a functional prototype toward a fully automated, validated tool for synthetic biology research.</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julsjac/RuleScape" TargetMode="Externa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3226200" y="3232500"/>
            <a:ext cx="3678900" cy="39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343F00"/>
                </a:solidFill>
                <a:latin typeface="Platypi"/>
                <a:ea typeface="Platypi"/>
                <a:cs typeface="Platypi"/>
                <a:sym typeface="Platypi"/>
              </a:rPr>
              <a:t>By Juliette, Electra, Meredith, Trieu, and Rafay</a:t>
            </a:r>
            <a:endParaRPr sz="1200">
              <a:solidFill>
                <a:srgbClr val="343F00"/>
              </a:solidFill>
              <a:latin typeface="Platypi"/>
              <a:ea typeface="Platypi"/>
              <a:cs typeface="Platypi"/>
              <a:sym typeface="Platypi"/>
            </a:endParaRPr>
          </a:p>
        </p:txBody>
      </p:sp>
      <p:pic>
        <p:nvPicPr>
          <p:cNvPr id="55" name="Google Shape;55;p13" title="rulescape_logo.png"/>
          <p:cNvPicPr preferRelativeResize="0"/>
          <p:nvPr/>
        </p:nvPicPr>
        <p:blipFill rotWithShape="1">
          <a:blip r:embed="rId3">
            <a:alphaModFix/>
          </a:blip>
          <a:srcRect b="26009" l="0" r="0" t="17694"/>
          <a:stretch/>
        </p:blipFill>
        <p:spPr>
          <a:xfrm>
            <a:off x="1243350" y="1853950"/>
            <a:ext cx="5219875" cy="1084016"/>
          </a:xfrm>
          <a:prstGeom prst="rect">
            <a:avLst/>
          </a:prstGeom>
          <a:noFill/>
          <a:ln>
            <a:noFill/>
          </a:ln>
        </p:spPr>
      </p:pic>
      <p:sp>
        <p:nvSpPr>
          <p:cNvPr id="56" name="Google Shape;56;p13"/>
          <p:cNvSpPr txBox="1"/>
          <p:nvPr>
            <p:ph idx="1" type="subTitle"/>
          </p:nvPr>
        </p:nvSpPr>
        <p:spPr>
          <a:xfrm>
            <a:off x="2230642" y="2862036"/>
            <a:ext cx="5670000" cy="441300"/>
          </a:xfrm>
          <a:prstGeom prst="rect">
            <a:avLst/>
          </a:prstGeom>
        </p:spPr>
        <p:txBody>
          <a:bodyPr anchorCtr="0" anchor="t" bIns="79550" lIns="79550" spcFirstLastPara="1" rIns="79550" wrap="square" tIns="79550">
            <a:noAutofit/>
          </a:bodyPr>
          <a:lstStyle/>
          <a:p>
            <a:pPr indent="0" lvl="0" marL="0" rtl="0" algn="ctr">
              <a:spcBef>
                <a:spcPts val="0"/>
              </a:spcBef>
              <a:spcAft>
                <a:spcPts val="0"/>
              </a:spcAft>
              <a:buNone/>
            </a:pPr>
            <a:r>
              <a:rPr lang="en" sz="1540">
                <a:solidFill>
                  <a:srgbClr val="343F00"/>
                </a:solidFill>
                <a:latin typeface="Platypi"/>
                <a:ea typeface="Platypi"/>
                <a:cs typeface="Platypi"/>
                <a:sym typeface="Platypi"/>
              </a:rPr>
              <a:t>a</a:t>
            </a:r>
            <a:r>
              <a:rPr lang="en" sz="1540">
                <a:solidFill>
                  <a:srgbClr val="343F00"/>
                </a:solidFill>
                <a:latin typeface="Platypi"/>
                <a:ea typeface="Platypi"/>
                <a:cs typeface="Platypi"/>
                <a:sym typeface="Platypi"/>
              </a:rPr>
              <a:t> rule-based optimization for genetic </a:t>
            </a:r>
            <a:r>
              <a:rPr lang="en" sz="1540">
                <a:solidFill>
                  <a:srgbClr val="343F00"/>
                </a:solidFill>
                <a:latin typeface="Platypi"/>
                <a:ea typeface="Platypi"/>
                <a:cs typeface="Platypi"/>
                <a:sym typeface="Platypi"/>
              </a:rPr>
              <a:t>circuit</a:t>
            </a:r>
            <a:r>
              <a:rPr lang="en" sz="1540">
                <a:solidFill>
                  <a:srgbClr val="343F00"/>
                </a:solidFill>
                <a:latin typeface="Platypi"/>
                <a:ea typeface="Platypi"/>
                <a:cs typeface="Platypi"/>
                <a:sym typeface="Platypi"/>
              </a:rPr>
              <a:t> design</a:t>
            </a:r>
            <a:endParaRPr sz="1540">
              <a:solidFill>
                <a:srgbClr val="343F00"/>
              </a:solidFill>
              <a:latin typeface="Platypi"/>
              <a:ea typeface="Platypi"/>
              <a:cs typeface="Platypi"/>
              <a:sym typeface="Platyp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60" name="Shape 60"/>
        <p:cNvGrpSpPr/>
        <p:nvPr/>
      </p:nvGrpSpPr>
      <p:grpSpPr>
        <a:xfrm>
          <a:off x="0" y="0"/>
          <a:ext cx="0" cy="0"/>
          <a:chOff x="0" y="0"/>
          <a:chExt cx="0" cy="0"/>
        </a:xfrm>
      </p:grpSpPr>
      <p:sp>
        <p:nvSpPr>
          <p:cNvPr id="61" name="Google Shape;61;p14"/>
          <p:cNvSpPr/>
          <p:nvPr/>
        </p:nvSpPr>
        <p:spPr>
          <a:xfrm>
            <a:off x="2621419" y="3092350"/>
            <a:ext cx="1743900" cy="1001100"/>
          </a:xfrm>
          <a:prstGeom prst="rect">
            <a:avLst/>
          </a:prstGeom>
          <a:solidFill>
            <a:srgbClr val="B6D7A8"/>
          </a:solidFill>
          <a:ln cap="flat" cmpd="sng" w="9525">
            <a:solidFill>
              <a:srgbClr val="274E1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4"/>
          <p:cNvSpPr/>
          <p:nvPr/>
        </p:nvSpPr>
        <p:spPr>
          <a:xfrm>
            <a:off x="6351519" y="3092350"/>
            <a:ext cx="1743900" cy="1001100"/>
          </a:xfrm>
          <a:prstGeom prst="rect">
            <a:avLst/>
          </a:prstGeom>
          <a:solidFill>
            <a:srgbClr val="6AA84F"/>
          </a:solidFill>
          <a:ln cap="flat" cmpd="sng" w="9525">
            <a:solidFill>
              <a:srgbClr val="274E1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p:nvPr/>
        </p:nvSpPr>
        <p:spPr>
          <a:xfrm>
            <a:off x="841769" y="3092350"/>
            <a:ext cx="1743900" cy="1001100"/>
          </a:xfrm>
          <a:prstGeom prst="rect">
            <a:avLst/>
          </a:prstGeom>
          <a:solidFill>
            <a:srgbClr val="6AA84F"/>
          </a:solidFill>
          <a:ln cap="flat" cmpd="sng" w="9525">
            <a:solidFill>
              <a:srgbClr val="274E1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43F00"/>
                </a:solidFill>
                <a:latin typeface="Platypi"/>
                <a:ea typeface="Platypi"/>
                <a:cs typeface="Platypi"/>
                <a:sym typeface="Platypi"/>
              </a:rPr>
              <a:t>Goal and Motivation - Rafay</a:t>
            </a:r>
            <a:endParaRPr>
              <a:solidFill>
                <a:srgbClr val="343F00"/>
              </a:solidFill>
              <a:latin typeface="Platypi"/>
              <a:ea typeface="Platypi"/>
              <a:cs typeface="Platypi"/>
              <a:sym typeface="Platypi"/>
            </a:endParaRPr>
          </a:p>
        </p:txBody>
      </p:sp>
      <p:sp>
        <p:nvSpPr>
          <p:cNvPr id="65" name="Google Shape;65;p14"/>
          <p:cNvSpPr/>
          <p:nvPr/>
        </p:nvSpPr>
        <p:spPr>
          <a:xfrm>
            <a:off x="2754613" y="3306550"/>
            <a:ext cx="14775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typi Light"/>
                <a:ea typeface="Platypi Light"/>
                <a:cs typeface="Platypi Light"/>
                <a:sym typeface="Platypi Light"/>
              </a:rPr>
              <a:t>Design</a:t>
            </a:r>
            <a:endParaRPr>
              <a:latin typeface="Platypi Light"/>
              <a:ea typeface="Platypi Light"/>
              <a:cs typeface="Platypi Light"/>
              <a:sym typeface="Platypi Light"/>
            </a:endParaRPr>
          </a:p>
        </p:txBody>
      </p:sp>
      <p:sp>
        <p:nvSpPr>
          <p:cNvPr id="66" name="Google Shape;66;p14"/>
          <p:cNvSpPr/>
          <p:nvPr/>
        </p:nvSpPr>
        <p:spPr>
          <a:xfrm>
            <a:off x="4646913" y="3285675"/>
            <a:ext cx="14775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typi Light"/>
                <a:ea typeface="Platypi Light"/>
                <a:cs typeface="Platypi Light"/>
                <a:sym typeface="Platypi Light"/>
              </a:rPr>
              <a:t>Build/</a:t>
            </a:r>
            <a:r>
              <a:rPr lang="en">
                <a:latin typeface="Platypi Light"/>
                <a:ea typeface="Platypi Light"/>
                <a:cs typeface="Platypi Light"/>
                <a:sym typeface="Platypi Light"/>
              </a:rPr>
              <a:t>Test</a:t>
            </a:r>
            <a:endParaRPr>
              <a:latin typeface="Platypi Light"/>
              <a:ea typeface="Platypi Light"/>
              <a:cs typeface="Platypi Light"/>
              <a:sym typeface="Platypi Light"/>
            </a:endParaRPr>
          </a:p>
        </p:txBody>
      </p:sp>
      <p:sp>
        <p:nvSpPr>
          <p:cNvPr id="67" name="Google Shape;67;p14"/>
          <p:cNvSpPr/>
          <p:nvPr/>
        </p:nvSpPr>
        <p:spPr>
          <a:xfrm>
            <a:off x="6476988" y="3285675"/>
            <a:ext cx="14775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typi Light"/>
                <a:ea typeface="Platypi Light"/>
                <a:cs typeface="Platypi Light"/>
                <a:sym typeface="Platypi Light"/>
              </a:rPr>
              <a:t>Learn</a:t>
            </a:r>
            <a:endParaRPr>
              <a:latin typeface="Platypi Light"/>
              <a:ea typeface="Platypi Light"/>
              <a:cs typeface="Platypi Light"/>
              <a:sym typeface="Platypi Light"/>
            </a:endParaRPr>
          </a:p>
        </p:txBody>
      </p:sp>
      <p:cxnSp>
        <p:nvCxnSpPr>
          <p:cNvPr id="68" name="Google Shape;68;p14"/>
          <p:cNvCxnSpPr>
            <a:stCxn id="65" idx="3"/>
            <a:endCxn id="69" idx="1"/>
          </p:cNvCxnSpPr>
          <p:nvPr/>
        </p:nvCxnSpPr>
        <p:spPr>
          <a:xfrm>
            <a:off x="4232113" y="3592900"/>
            <a:ext cx="324900" cy="0"/>
          </a:xfrm>
          <a:prstGeom prst="straightConnector1">
            <a:avLst/>
          </a:prstGeom>
          <a:noFill/>
          <a:ln cap="flat" cmpd="sng" w="9525">
            <a:solidFill>
              <a:schemeClr val="dk1"/>
            </a:solidFill>
            <a:prstDash val="solid"/>
            <a:round/>
            <a:headEnd len="med" w="med" type="none"/>
            <a:tailEnd len="med" w="med" type="stealth"/>
          </a:ln>
        </p:spPr>
      </p:cxnSp>
      <p:cxnSp>
        <p:nvCxnSpPr>
          <p:cNvPr id="70" name="Google Shape;70;p14"/>
          <p:cNvCxnSpPr/>
          <p:nvPr/>
        </p:nvCxnSpPr>
        <p:spPr>
          <a:xfrm>
            <a:off x="2405213" y="3572025"/>
            <a:ext cx="414900" cy="0"/>
          </a:xfrm>
          <a:prstGeom prst="straightConnector1">
            <a:avLst/>
          </a:prstGeom>
          <a:noFill/>
          <a:ln cap="flat" cmpd="sng" w="9525">
            <a:solidFill>
              <a:schemeClr val="dk1"/>
            </a:solidFill>
            <a:prstDash val="solid"/>
            <a:round/>
            <a:headEnd len="med" w="med" type="none"/>
            <a:tailEnd len="med" w="med" type="stealth"/>
          </a:ln>
        </p:spPr>
      </p:cxnSp>
      <p:cxnSp>
        <p:nvCxnSpPr>
          <p:cNvPr id="71" name="Google Shape;71;p14"/>
          <p:cNvCxnSpPr>
            <a:stCxn id="66" idx="3"/>
            <a:endCxn id="67" idx="1"/>
          </p:cNvCxnSpPr>
          <p:nvPr/>
        </p:nvCxnSpPr>
        <p:spPr>
          <a:xfrm>
            <a:off x="6124413" y="3572025"/>
            <a:ext cx="352500" cy="0"/>
          </a:xfrm>
          <a:prstGeom prst="straightConnector1">
            <a:avLst/>
          </a:prstGeom>
          <a:noFill/>
          <a:ln cap="flat" cmpd="sng" w="9525">
            <a:solidFill>
              <a:schemeClr val="dk1"/>
            </a:solidFill>
            <a:prstDash val="solid"/>
            <a:round/>
            <a:headEnd len="med" w="med" type="none"/>
            <a:tailEnd len="med" w="med" type="stealth"/>
          </a:ln>
        </p:spPr>
      </p:cxnSp>
      <p:sp>
        <p:nvSpPr>
          <p:cNvPr id="72" name="Google Shape;72;p14"/>
          <p:cNvSpPr txBox="1"/>
          <p:nvPr/>
        </p:nvSpPr>
        <p:spPr>
          <a:xfrm>
            <a:off x="1187750" y="4186875"/>
            <a:ext cx="6696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latypi Light"/>
                <a:ea typeface="Platypi Light"/>
                <a:cs typeface="Platypi Light"/>
                <a:sym typeface="Platypi Light"/>
              </a:rPr>
              <a:t>By now, we are all well accounted with this flow…</a:t>
            </a:r>
            <a:endParaRPr sz="2100">
              <a:solidFill>
                <a:schemeClr val="dk1"/>
              </a:solidFill>
              <a:latin typeface="Platypi Light"/>
              <a:ea typeface="Platypi Light"/>
              <a:cs typeface="Platypi Light"/>
              <a:sym typeface="Platypi Light"/>
            </a:endParaRPr>
          </a:p>
        </p:txBody>
      </p:sp>
      <p:sp>
        <p:nvSpPr>
          <p:cNvPr id="73" name="Google Shape;73;p14"/>
          <p:cNvSpPr txBox="1"/>
          <p:nvPr/>
        </p:nvSpPr>
        <p:spPr>
          <a:xfrm>
            <a:off x="766950" y="1617025"/>
            <a:ext cx="7675200" cy="114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Platypi Light"/>
                <a:ea typeface="Platypi Light"/>
                <a:cs typeface="Platypi Light"/>
                <a:sym typeface="Platypi Light"/>
              </a:rPr>
              <a:t>Your PI asks you to make a NOT gate. You know some rules from your personal work, some from other lab members, and you dug some out from lit reviews. </a:t>
            </a:r>
            <a:endParaRPr>
              <a:solidFill>
                <a:schemeClr val="dk1"/>
              </a:solidFill>
              <a:latin typeface="Platypi Light"/>
              <a:ea typeface="Platypi Light"/>
              <a:cs typeface="Platypi Light"/>
              <a:sym typeface="Platypi Light"/>
            </a:endParaRPr>
          </a:p>
          <a:p>
            <a:pPr indent="0" lvl="0" marL="0" rtl="0" algn="l">
              <a:lnSpc>
                <a:spcPct val="115000"/>
              </a:lnSpc>
              <a:spcBef>
                <a:spcPts val="1200"/>
              </a:spcBef>
              <a:spcAft>
                <a:spcPts val="1200"/>
              </a:spcAft>
              <a:buNone/>
            </a:pPr>
            <a:r>
              <a:rPr lang="en">
                <a:solidFill>
                  <a:schemeClr val="dk1"/>
                </a:solidFill>
                <a:latin typeface="Platypi Light"/>
                <a:ea typeface="Platypi Light"/>
                <a:cs typeface="Platypi Light"/>
                <a:sym typeface="Platypi Light"/>
              </a:rPr>
              <a:t>This is the usual flow as you set out on your task</a:t>
            </a:r>
            <a:endParaRPr>
              <a:solidFill>
                <a:schemeClr val="dk1"/>
              </a:solidFill>
              <a:latin typeface="Platypi Light"/>
              <a:ea typeface="Platypi Light"/>
              <a:cs typeface="Platypi Light"/>
              <a:sym typeface="Platypi Light"/>
            </a:endParaRPr>
          </a:p>
        </p:txBody>
      </p:sp>
      <p:cxnSp>
        <p:nvCxnSpPr>
          <p:cNvPr id="74" name="Google Shape;74;p14"/>
          <p:cNvCxnSpPr/>
          <p:nvPr/>
        </p:nvCxnSpPr>
        <p:spPr>
          <a:xfrm>
            <a:off x="766950" y="1182925"/>
            <a:ext cx="0" cy="1426200"/>
          </a:xfrm>
          <a:prstGeom prst="straightConnector1">
            <a:avLst/>
          </a:prstGeom>
          <a:noFill/>
          <a:ln cap="flat" cmpd="sng" w="28575">
            <a:solidFill>
              <a:srgbClr val="6AA84F"/>
            </a:solidFill>
            <a:prstDash val="solid"/>
            <a:round/>
            <a:headEnd len="med" w="med" type="none"/>
            <a:tailEnd len="med" w="med" type="none"/>
          </a:ln>
        </p:spPr>
      </p:cxnSp>
      <p:sp>
        <p:nvSpPr>
          <p:cNvPr id="75" name="Google Shape;75;p14"/>
          <p:cNvSpPr txBox="1"/>
          <p:nvPr/>
        </p:nvSpPr>
        <p:spPr>
          <a:xfrm>
            <a:off x="766950" y="1106725"/>
            <a:ext cx="4161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8761D"/>
                </a:solidFill>
                <a:latin typeface="Platypi Light"/>
                <a:ea typeface="Platypi Light"/>
                <a:cs typeface="Platypi Light"/>
                <a:sym typeface="Platypi Light"/>
              </a:rPr>
              <a:t>Let’s start with a scenario:</a:t>
            </a:r>
            <a:endParaRPr sz="1800">
              <a:solidFill>
                <a:srgbClr val="38761D"/>
              </a:solidFill>
              <a:latin typeface="Platypi Light"/>
              <a:ea typeface="Platypi Light"/>
              <a:cs typeface="Platypi Light"/>
              <a:sym typeface="Platypi Light"/>
            </a:endParaRPr>
          </a:p>
        </p:txBody>
      </p:sp>
      <p:sp>
        <p:nvSpPr>
          <p:cNvPr id="76" name="Google Shape;76;p14"/>
          <p:cNvSpPr/>
          <p:nvPr/>
        </p:nvSpPr>
        <p:spPr>
          <a:xfrm>
            <a:off x="960113" y="3285675"/>
            <a:ext cx="14775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latypi Light"/>
                <a:ea typeface="Platypi Light"/>
                <a:cs typeface="Platypi Light"/>
                <a:sym typeface="Platypi Light"/>
              </a:rPr>
              <a:t>Specify</a:t>
            </a:r>
            <a:endParaRPr>
              <a:latin typeface="Platypi Light"/>
              <a:ea typeface="Platypi Light"/>
              <a:cs typeface="Platypi Light"/>
              <a:sym typeface="Platypi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43F00"/>
                </a:solidFill>
                <a:latin typeface="Platypi"/>
                <a:ea typeface="Platypi"/>
                <a:cs typeface="Platypi"/>
                <a:sym typeface="Platypi"/>
              </a:rPr>
              <a:t>Goal and Motivation - Rafay</a:t>
            </a:r>
            <a:endParaRPr>
              <a:solidFill>
                <a:srgbClr val="343F00"/>
              </a:solidFill>
              <a:latin typeface="Platypi"/>
              <a:ea typeface="Platypi"/>
              <a:cs typeface="Platypi"/>
              <a:sym typeface="Platypi"/>
            </a:endParaRPr>
          </a:p>
        </p:txBody>
      </p:sp>
      <p:sp>
        <p:nvSpPr>
          <p:cNvPr id="82" name="Google Shape;82;p15"/>
          <p:cNvSpPr/>
          <p:nvPr/>
        </p:nvSpPr>
        <p:spPr>
          <a:xfrm>
            <a:off x="803750" y="1152375"/>
            <a:ext cx="4517400" cy="2885700"/>
          </a:xfrm>
          <a:prstGeom prst="rect">
            <a:avLst/>
          </a:prstGeom>
          <a:solidFill>
            <a:srgbClr val="93C47D"/>
          </a:solidFill>
          <a:ln cap="flat" cmpd="sng" w="12150">
            <a:solidFill>
              <a:srgbClr val="274E13"/>
            </a:solidFill>
            <a:prstDash val="dash"/>
            <a:round/>
            <a:headEnd len="sm" w="sm" type="none"/>
            <a:tailEnd len="sm" w="sm" type="none"/>
          </a:ln>
        </p:spPr>
        <p:txBody>
          <a:bodyPr anchorCtr="0" anchor="ctr" bIns="116625" lIns="116625" spcFirstLastPara="1" rIns="116625" wrap="square" tIns="116625">
            <a:noAutofit/>
          </a:bodyPr>
          <a:lstStyle/>
          <a:p>
            <a:pPr indent="0" lvl="0" marL="0" rtl="0" algn="ctr">
              <a:spcBef>
                <a:spcPts val="0"/>
              </a:spcBef>
              <a:spcAft>
                <a:spcPts val="0"/>
              </a:spcAft>
              <a:buNone/>
            </a:pPr>
            <a:r>
              <a:t/>
            </a:r>
            <a:endParaRPr sz="1786"/>
          </a:p>
        </p:txBody>
      </p:sp>
      <p:grpSp>
        <p:nvGrpSpPr>
          <p:cNvPr id="83" name="Google Shape;83;p15"/>
          <p:cNvGrpSpPr/>
          <p:nvPr/>
        </p:nvGrpSpPr>
        <p:grpSpPr>
          <a:xfrm>
            <a:off x="999675" y="1270644"/>
            <a:ext cx="1829593" cy="2570568"/>
            <a:chOff x="4949948" y="1241293"/>
            <a:chExt cx="2030400" cy="2852700"/>
          </a:xfrm>
        </p:grpSpPr>
        <p:sp>
          <p:nvSpPr>
            <p:cNvPr id="84" name="Google Shape;84;p15"/>
            <p:cNvSpPr/>
            <p:nvPr/>
          </p:nvSpPr>
          <p:spPr>
            <a:xfrm>
              <a:off x="4949948" y="1241293"/>
              <a:ext cx="2030400" cy="2852700"/>
            </a:xfrm>
            <a:prstGeom prst="roundRect">
              <a:avLst>
                <a:gd fmla="val 16667" name="adj"/>
              </a:avLst>
            </a:prstGeom>
            <a:solidFill>
              <a:schemeClr val="lt2"/>
            </a:solidFill>
            <a:ln cap="flat" cmpd="sng" w="6450">
              <a:solidFill>
                <a:schemeClr val="dk2"/>
              </a:solidFill>
              <a:prstDash val="solid"/>
              <a:round/>
              <a:headEnd len="sm" w="sm" type="none"/>
              <a:tailEnd len="sm" w="sm" type="none"/>
            </a:ln>
          </p:spPr>
          <p:txBody>
            <a:bodyPr anchorCtr="0" anchor="ctr" bIns="61800" lIns="61800" spcFirstLastPara="1" rIns="61800" wrap="square" tIns="61800">
              <a:noAutofit/>
            </a:bodyPr>
            <a:lstStyle/>
            <a:p>
              <a:pPr indent="0" lvl="0" marL="0" rtl="0" algn="ctr">
                <a:spcBef>
                  <a:spcPts val="0"/>
                </a:spcBef>
                <a:spcAft>
                  <a:spcPts val="0"/>
                </a:spcAft>
                <a:buNone/>
              </a:pPr>
              <a:r>
                <a:t/>
              </a:r>
              <a:endParaRPr sz="946"/>
            </a:p>
          </p:txBody>
        </p:sp>
        <p:pic>
          <p:nvPicPr>
            <p:cNvPr id="85" name="Google Shape;85;p15"/>
            <p:cNvPicPr preferRelativeResize="0"/>
            <p:nvPr/>
          </p:nvPicPr>
          <p:blipFill>
            <a:blip r:embed="rId3">
              <a:alphaModFix/>
            </a:blip>
            <a:stretch>
              <a:fillRect/>
            </a:stretch>
          </p:blipFill>
          <p:spPr>
            <a:xfrm>
              <a:off x="5121383" y="1732205"/>
              <a:ext cx="1552541" cy="850696"/>
            </a:xfrm>
            <a:prstGeom prst="rect">
              <a:avLst/>
            </a:prstGeom>
            <a:noFill/>
            <a:ln>
              <a:noFill/>
            </a:ln>
          </p:spPr>
        </p:pic>
        <p:sp>
          <p:nvSpPr>
            <p:cNvPr id="86" name="Google Shape;86;p15"/>
            <p:cNvSpPr txBox="1"/>
            <p:nvPr/>
          </p:nvSpPr>
          <p:spPr>
            <a:xfrm>
              <a:off x="5121372" y="2834882"/>
              <a:ext cx="1761300" cy="770400"/>
            </a:xfrm>
            <a:prstGeom prst="rect">
              <a:avLst/>
            </a:prstGeom>
            <a:noFill/>
            <a:ln>
              <a:noFill/>
            </a:ln>
          </p:spPr>
          <p:txBody>
            <a:bodyPr anchorCtr="0" anchor="t" bIns="61800" lIns="61800" spcFirstLastPara="1" rIns="61800" wrap="square" tIns="61800">
              <a:noAutofit/>
            </a:bodyPr>
            <a:lstStyle/>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Design</a:t>
              </a:r>
              <a:endParaRPr sz="1082">
                <a:solidFill>
                  <a:schemeClr val="dk2"/>
                </a:solidFill>
                <a:latin typeface="Platypi Light"/>
                <a:ea typeface="Platypi Light"/>
                <a:cs typeface="Platypi Light"/>
                <a:sym typeface="Platypi Light"/>
              </a:endParaRPr>
            </a:p>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Simulate</a:t>
              </a:r>
              <a:endParaRPr sz="1082">
                <a:solidFill>
                  <a:schemeClr val="dk2"/>
                </a:solidFill>
                <a:latin typeface="Platypi Light"/>
                <a:ea typeface="Platypi Light"/>
                <a:cs typeface="Platypi Light"/>
                <a:sym typeface="Platypi Light"/>
              </a:endParaRPr>
            </a:p>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Evaluate</a:t>
              </a:r>
              <a:endParaRPr sz="1082">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082">
                <a:solidFill>
                  <a:schemeClr val="dk2"/>
                </a:solidFill>
                <a:latin typeface="Platypi Light"/>
                <a:ea typeface="Platypi Light"/>
                <a:cs typeface="Platypi Light"/>
                <a:sym typeface="Platypi Light"/>
              </a:endParaRPr>
            </a:p>
          </p:txBody>
        </p:sp>
      </p:grpSp>
      <p:grpSp>
        <p:nvGrpSpPr>
          <p:cNvPr id="87" name="Google Shape;87;p15"/>
          <p:cNvGrpSpPr/>
          <p:nvPr/>
        </p:nvGrpSpPr>
        <p:grpSpPr>
          <a:xfrm>
            <a:off x="3243475" y="1270730"/>
            <a:ext cx="1884226" cy="2570647"/>
            <a:chOff x="1774357" y="1096635"/>
            <a:chExt cx="2299800" cy="3202500"/>
          </a:xfrm>
        </p:grpSpPr>
        <p:sp>
          <p:nvSpPr>
            <p:cNvPr id="88" name="Google Shape;88;p15"/>
            <p:cNvSpPr/>
            <p:nvPr/>
          </p:nvSpPr>
          <p:spPr>
            <a:xfrm>
              <a:off x="1774357" y="1096635"/>
              <a:ext cx="2299800" cy="3202500"/>
            </a:xfrm>
            <a:prstGeom prst="roundRect">
              <a:avLst>
                <a:gd fmla="val 16667" name="adj"/>
              </a:avLst>
            </a:prstGeom>
            <a:solidFill>
              <a:schemeClr val="lt2"/>
            </a:solidFill>
            <a:ln cap="flat" cmpd="sng" w="6450">
              <a:solidFill>
                <a:schemeClr val="dk2"/>
              </a:solidFill>
              <a:prstDash val="solid"/>
              <a:round/>
              <a:headEnd len="sm" w="sm" type="none"/>
              <a:tailEnd len="sm" w="sm" type="none"/>
            </a:ln>
          </p:spPr>
          <p:txBody>
            <a:bodyPr anchorCtr="0" anchor="ctr" bIns="61800" lIns="61800" spcFirstLastPara="1" rIns="61800" wrap="square" tIns="61800">
              <a:noAutofit/>
            </a:bodyPr>
            <a:lstStyle/>
            <a:p>
              <a:pPr indent="0" lvl="0" marL="0" rtl="0" algn="ctr">
                <a:spcBef>
                  <a:spcPts val="0"/>
                </a:spcBef>
                <a:spcAft>
                  <a:spcPts val="0"/>
                </a:spcAft>
                <a:buNone/>
              </a:pPr>
              <a:r>
                <a:t/>
              </a:r>
              <a:endParaRPr sz="946"/>
            </a:p>
          </p:txBody>
        </p:sp>
        <p:pic>
          <p:nvPicPr>
            <p:cNvPr id="89" name="Google Shape;89;p15"/>
            <p:cNvPicPr preferRelativeResize="0"/>
            <p:nvPr/>
          </p:nvPicPr>
          <p:blipFill>
            <a:blip r:embed="rId4">
              <a:alphaModFix/>
            </a:blip>
            <a:stretch>
              <a:fillRect/>
            </a:stretch>
          </p:blipFill>
          <p:spPr>
            <a:xfrm>
              <a:off x="1977922" y="1649122"/>
              <a:ext cx="1844792" cy="1048593"/>
            </a:xfrm>
            <a:prstGeom prst="rect">
              <a:avLst/>
            </a:prstGeom>
            <a:noFill/>
            <a:ln>
              <a:noFill/>
            </a:ln>
          </p:spPr>
        </p:pic>
        <p:sp>
          <p:nvSpPr>
            <p:cNvPr id="90" name="Google Shape;90;p15"/>
            <p:cNvSpPr txBox="1"/>
            <p:nvPr/>
          </p:nvSpPr>
          <p:spPr>
            <a:xfrm>
              <a:off x="2099451" y="2910905"/>
              <a:ext cx="1761300" cy="735900"/>
            </a:xfrm>
            <a:prstGeom prst="rect">
              <a:avLst/>
            </a:prstGeom>
            <a:noFill/>
            <a:ln>
              <a:noFill/>
            </a:ln>
          </p:spPr>
          <p:txBody>
            <a:bodyPr anchorCtr="0" anchor="t" bIns="61800" lIns="61800" spcFirstLastPara="1" rIns="61800" wrap="square" tIns="61800">
              <a:noAutofit/>
            </a:bodyPr>
            <a:lstStyle/>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Specify</a:t>
              </a:r>
              <a:endParaRPr sz="1082">
                <a:solidFill>
                  <a:schemeClr val="dk2"/>
                </a:solidFill>
                <a:latin typeface="Platypi Light"/>
                <a:ea typeface="Platypi Light"/>
                <a:cs typeface="Platypi Light"/>
                <a:sym typeface="Platypi Light"/>
              </a:endParaRPr>
            </a:p>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Store</a:t>
              </a:r>
              <a:endParaRPr sz="1082">
                <a:solidFill>
                  <a:schemeClr val="dk2"/>
                </a:solidFill>
                <a:latin typeface="Platypi Light"/>
                <a:ea typeface="Platypi Light"/>
                <a:cs typeface="Platypi Light"/>
                <a:sym typeface="Platypi Light"/>
              </a:endParaRPr>
            </a:p>
            <a:p>
              <a:pPr indent="-223220" lvl="0" marL="309081" rtl="0" algn="l">
                <a:spcBef>
                  <a:spcPts val="0"/>
                </a:spcBef>
                <a:spcAft>
                  <a:spcPts val="0"/>
                </a:spcAft>
                <a:buClr>
                  <a:schemeClr val="dk2"/>
                </a:buClr>
                <a:buSzPts val="1082"/>
                <a:buFont typeface="Platypi Light"/>
                <a:buChar char="●"/>
              </a:pPr>
              <a:r>
                <a:rPr lang="en" sz="1082">
                  <a:solidFill>
                    <a:schemeClr val="dk2"/>
                  </a:solidFill>
                  <a:latin typeface="Platypi Light"/>
                  <a:ea typeface="Platypi Light"/>
                  <a:cs typeface="Platypi Light"/>
                  <a:sym typeface="Platypi Light"/>
                </a:rPr>
                <a:t>Visualize</a:t>
              </a:r>
              <a:endParaRPr sz="1082">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082">
                <a:solidFill>
                  <a:schemeClr val="dk2"/>
                </a:solidFill>
                <a:latin typeface="Platypi Light"/>
                <a:ea typeface="Platypi Light"/>
                <a:cs typeface="Platypi Light"/>
                <a:sym typeface="Platypi Light"/>
              </a:endParaRPr>
            </a:p>
          </p:txBody>
        </p:sp>
      </p:grpSp>
      <p:cxnSp>
        <p:nvCxnSpPr>
          <p:cNvPr id="91" name="Google Shape;91;p15"/>
          <p:cNvCxnSpPr>
            <a:stCxn id="84" idx="3"/>
            <a:endCxn id="88" idx="1"/>
          </p:cNvCxnSpPr>
          <p:nvPr/>
        </p:nvCxnSpPr>
        <p:spPr>
          <a:xfrm>
            <a:off x="2829268" y="2555928"/>
            <a:ext cx="414300" cy="0"/>
          </a:xfrm>
          <a:prstGeom prst="straightConnector1">
            <a:avLst/>
          </a:prstGeom>
          <a:noFill/>
          <a:ln cap="flat" cmpd="sng" w="8575">
            <a:solidFill>
              <a:schemeClr val="dk2"/>
            </a:solidFill>
            <a:prstDash val="dash"/>
            <a:round/>
            <a:headEnd len="med" w="med" type="none"/>
            <a:tailEnd len="med" w="med" type="stealth"/>
          </a:ln>
        </p:spPr>
      </p:cxnSp>
      <p:sp>
        <p:nvSpPr>
          <p:cNvPr id="92" name="Google Shape;92;p15"/>
          <p:cNvSpPr txBox="1"/>
          <p:nvPr/>
        </p:nvSpPr>
        <p:spPr>
          <a:xfrm>
            <a:off x="5502675" y="1137325"/>
            <a:ext cx="3126600" cy="2938500"/>
          </a:xfrm>
          <a:prstGeom prst="rect">
            <a:avLst/>
          </a:prstGeom>
          <a:noFill/>
          <a:ln>
            <a:noFill/>
          </a:ln>
        </p:spPr>
        <p:txBody>
          <a:bodyPr anchorCtr="0" anchor="t" bIns="82375" lIns="82375" spcFirstLastPara="1" rIns="82375" wrap="square" tIns="82375">
            <a:noAutofit/>
          </a:bodyPr>
          <a:lstStyle/>
          <a:p>
            <a:pPr indent="0" lvl="0" marL="0" rtl="0" algn="l">
              <a:spcBef>
                <a:spcPts val="0"/>
              </a:spcBef>
              <a:spcAft>
                <a:spcPts val="0"/>
              </a:spcAft>
              <a:buNone/>
            </a:pPr>
            <a:r>
              <a:rPr lang="en" sz="1532">
                <a:solidFill>
                  <a:schemeClr val="dk1"/>
                </a:solidFill>
                <a:latin typeface="Platypi Light"/>
                <a:ea typeface="Platypi Light"/>
                <a:cs typeface="Platypi Light"/>
                <a:sym typeface="Platypi Light"/>
              </a:rPr>
              <a:t>How do we connect these seamlessly?</a:t>
            </a:r>
            <a:endParaRPr sz="1532">
              <a:solidFill>
                <a:schemeClr val="dk1"/>
              </a:solidFill>
              <a:latin typeface="Platypi Light"/>
              <a:ea typeface="Platypi Light"/>
              <a:cs typeface="Platypi Light"/>
              <a:sym typeface="Platypi Light"/>
            </a:endParaRPr>
          </a:p>
          <a:p>
            <a:pPr indent="0" lvl="0" marL="0" rtl="0" algn="l">
              <a:spcBef>
                <a:spcPts val="0"/>
              </a:spcBef>
              <a:spcAft>
                <a:spcPts val="0"/>
              </a:spcAft>
              <a:buNone/>
            </a:pPr>
            <a:r>
              <a:t/>
            </a:r>
            <a:endParaRPr sz="1532">
              <a:solidFill>
                <a:schemeClr val="dk1"/>
              </a:solidFill>
              <a:latin typeface="Platypi Light"/>
              <a:ea typeface="Platypi Light"/>
              <a:cs typeface="Platypi Light"/>
              <a:sym typeface="Platypi Light"/>
            </a:endParaRPr>
          </a:p>
          <a:p>
            <a:pPr indent="0" lvl="0" marL="0" rtl="0" algn="l">
              <a:spcBef>
                <a:spcPts val="0"/>
              </a:spcBef>
              <a:spcAft>
                <a:spcPts val="0"/>
              </a:spcAft>
              <a:buNone/>
            </a:pPr>
            <a:r>
              <a:rPr lang="en" sz="1532">
                <a:solidFill>
                  <a:schemeClr val="dk1"/>
                </a:solidFill>
                <a:latin typeface="Platypi Light"/>
                <a:ea typeface="Platypi Light"/>
                <a:cs typeface="Platypi Light"/>
                <a:sym typeface="Platypi Light"/>
              </a:rPr>
              <a:t>How do we learn throughout this process?</a:t>
            </a:r>
            <a:endParaRPr sz="1532">
              <a:solidFill>
                <a:schemeClr val="dk1"/>
              </a:solidFill>
              <a:latin typeface="Platypi Light"/>
              <a:ea typeface="Platypi Light"/>
              <a:cs typeface="Platypi Light"/>
              <a:sym typeface="Platypi Light"/>
            </a:endParaRPr>
          </a:p>
          <a:p>
            <a:pPr indent="0" lvl="0" marL="0" rtl="0" algn="l">
              <a:spcBef>
                <a:spcPts val="0"/>
              </a:spcBef>
              <a:spcAft>
                <a:spcPts val="0"/>
              </a:spcAft>
              <a:buNone/>
            </a:pPr>
            <a:r>
              <a:t/>
            </a:r>
            <a:endParaRPr sz="1532">
              <a:solidFill>
                <a:schemeClr val="dk1"/>
              </a:solidFill>
              <a:latin typeface="Platypi Light"/>
              <a:ea typeface="Platypi Light"/>
              <a:cs typeface="Platypi Light"/>
              <a:sym typeface="Platypi Light"/>
            </a:endParaRPr>
          </a:p>
          <a:p>
            <a:pPr indent="0" lvl="0" marL="0" rtl="0" algn="l">
              <a:spcBef>
                <a:spcPts val="0"/>
              </a:spcBef>
              <a:spcAft>
                <a:spcPts val="0"/>
              </a:spcAft>
              <a:buNone/>
            </a:pPr>
            <a:r>
              <a:rPr lang="en" sz="1532">
                <a:solidFill>
                  <a:schemeClr val="dk1"/>
                </a:solidFill>
                <a:latin typeface="Platypi Light"/>
                <a:ea typeface="Platypi Light"/>
                <a:cs typeface="Platypi Light"/>
                <a:sym typeface="Platypi Light"/>
              </a:rPr>
              <a:t>How do we navigate complex rule-spaces and limit </a:t>
            </a:r>
            <a:r>
              <a:rPr lang="en" sz="1532">
                <a:solidFill>
                  <a:schemeClr val="dk1"/>
                </a:solidFill>
                <a:latin typeface="Platypi Light"/>
                <a:ea typeface="Platypi Light"/>
                <a:cs typeface="Platypi Light"/>
                <a:sym typeface="Platypi Light"/>
              </a:rPr>
              <a:t>combinatorial</a:t>
            </a:r>
            <a:r>
              <a:rPr lang="en" sz="1532">
                <a:solidFill>
                  <a:schemeClr val="dk1"/>
                </a:solidFill>
                <a:latin typeface="Platypi Light"/>
                <a:ea typeface="Platypi Light"/>
                <a:cs typeface="Platypi Light"/>
                <a:sym typeface="Platypi Light"/>
              </a:rPr>
              <a:t> explosion?</a:t>
            </a:r>
            <a:endParaRPr sz="1532">
              <a:solidFill>
                <a:schemeClr val="dk1"/>
              </a:solidFill>
              <a:latin typeface="Platypi Light"/>
              <a:ea typeface="Platypi Light"/>
              <a:cs typeface="Platypi Light"/>
              <a:sym typeface="Platypi Light"/>
            </a:endParaRPr>
          </a:p>
        </p:txBody>
      </p:sp>
      <p:sp>
        <p:nvSpPr>
          <p:cNvPr id="93" name="Google Shape;93;p15"/>
          <p:cNvSpPr txBox="1"/>
          <p:nvPr/>
        </p:nvSpPr>
        <p:spPr>
          <a:xfrm>
            <a:off x="611700" y="4223025"/>
            <a:ext cx="8220600" cy="43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rgbClr val="343F00"/>
                </a:solidFill>
                <a:latin typeface="Platypi Light"/>
                <a:ea typeface="Platypi Light"/>
                <a:cs typeface="Platypi Light"/>
                <a:sym typeface="Platypi Light"/>
              </a:rPr>
              <a:t>You can let R</a:t>
            </a:r>
            <a:r>
              <a:rPr lang="en" sz="1600">
                <a:solidFill>
                  <a:srgbClr val="343F00"/>
                </a:solidFill>
                <a:latin typeface="Platypi Light"/>
                <a:ea typeface="Platypi Light"/>
                <a:cs typeface="Platypi Light"/>
                <a:sym typeface="Platypi Light"/>
              </a:rPr>
              <a:t>uleScape evaluate which rules are the most important for optimizing the expression of the circuit.</a:t>
            </a:r>
            <a:endParaRPr sz="1600">
              <a:solidFill>
                <a:srgbClr val="343F00"/>
              </a:solidFill>
              <a:latin typeface="Platypi Light"/>
              <a:ea typeface="Platypi Light"/>
              <a:cs typeface="Platypi Light"/>
              <a:sym typeface="Platypi Light"/>
            </a:endParaRPr>
          </a:p>
          <a:p>
            <a:pPr indent="0" lvl="0" marL="0" rtl="0" algn="l">
              <a:lnSpc>
                <a:spcPct val="115000"/>
              </a:lnSpc>
              <a:spcBef>
                <a:spcPts val="1200"/>
              </a:spcBef>
              <a:spcAft>
                <a:spcPts val="0"/>
              </a:spcAft>
              <a:buClr>
                <a:schemeClr val="dk1"/>
              </a:buClr>
              <a:buSzPts val="1100"/>
              <a:buFont typeface="Arial"/>
              <a:buNone/>
            </a:pPr>
            <a:r>
              <a:t/>
            </a:r>
            <a:endParaRPr sz="1600">
              <a:solidFill>
                <a:srgbClr val="343F00"/>
              </a:solidFill>
              <a:latin typeface="Platypi Light"/>
              <a:ea typeface="Platypi Light"/>
              <a:cs typeface="Platypi Light"/>
              <a:sym typeface="Platypi Light"/>
            </a:endParaRPr>
          </a:p>
          <a:p>
            <a:pPr indent="0" lvl="0" marL="0" rtl="0" algn="l">
              <a:spcBef>
                <a:spcPts val="1200"/>
              </a:spcBef>
              <a:spcAft>
                <a:spcPts val="0"/>
              </a:spcAft>
              <a:buNone/>
            </a:pPr>
            <a:r>
              <a:t/>
            </a:r>
            <a:endParaRPr sz="2000">
              <a:solidFill>
                <a:srgbClr val="343F00"/>
              </a:solidFill>
            </a:endParaRPr>
          </a:p>
        </p:txBody>
      </p:sp>
      <p:cxnSp>
        <p:nvCxnSpPr>
          <p:cNvPr id="94" name="Google Shape;94;p15"/>
          <p:cNvCxnSpPr/>
          <p:nvPr/>
        </p:nvCxnSpPr>
        <p:spPr>
          <a:xfrm>
            <a:off x="2829268" y="2708328"/>
            <a:ext cx="414300" cy="0"/>
          </a:xfrm>
          <a:prstGeom prst="straightConnector1">
            <a:avLst/>
          </a:prstGeom>
          <a:noFill/>
          <a:ln cap="flat" cmpd="sng" w="8575">
            <a:solidFill>
              <a:schemeClr val="dk2"/>
            </a:solidFill>
            <a:prstDash val="dash"/>
            <a:round/>
            <a:headEnd len="med" w="med" type="stealth"/>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98" name="Shape 98"/>
        <p:cNvGrpSpPr/>
        <p:nvPr/>
      </p:nvGrpSpPr>
      <p:grpSpPr>
        <a:xfrm>
          <a:off x="0" y="0"/>
          <a:ext cx="0" cy="0"/>
          <a:chOff x="0" y="0"/>
          <a:chExt cx="0" cy="0"/>
        </a:xfrm>
      </p:grpSpPr>
      <p:pic>
        <p:nvPicPr>
          <p:cNvPr id="99" name="Google Shape;99;p16"/>
          <p:cNvPicPr preferRelativeResize="0"/>
          <p:nvPr/>
        </p:nvPicPr>
        <p:blipFill>
          <a:blip r:embed="rId3">
            <a:alphaModFix/>
          </a:blip>
          <a:stretch>
            <a:fillRect/>
          </a:stretch>
        </p:blipFill>
        <p:spPr>
          <a:xfrm>
            <a:off x="2637000" y="142675"/>
            <a:ext cx="6376726" cy="2870550"/>
          </a:xfrm>
          <a:prstGeom prst="rect">
            <a:avLst/>
          </a:prstGeom>
          <a:noFill/>
          <a:ln>
            <a:noFill/>
          </a:ln>
        </p:spPr>
      </p:pic>
      <p:sp>
        <p:nvSpPr>
          <p:cNvPr id="100" name="Google Shape;100;p16"/>
          <p:cNvSpPr txBox="1"/>
          <p:nvPr>
            <p:ph type="title"/>
          </p:nvPr>
        </p:nvSpPr>
        <p:spPr>
          <a:xfrm>
            <a:off x="311700" y="445025"/>
            <a:ext cx="23253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solidFill>
                  <a:srgbClr val="343F00"/>
                </a:solidFill>
                <a:latin typeface="Platypi"/>
                <a:ea typeface="Platypi"/>
                <a:cs typeface="Platypi"/>
                <a:sym typeface="Platypi"/>
              </a:rPr>
              <a:t>Functionality Overview - Meredith</a:t>
            </a:r>
            <a:endParaRPr>
              <a:solidFill>
                <a:srgbClr val="343F00"/>
              </a:solidFill>
              <a:latin typeface="Platypi"/>
              <a:ea typeface="Platypi"/>
              <a:cs typeface="Platypi"/>
              <a:sym typeface="Platypi"/>
            </a:endParaRPr>
          </a:p>
        </p:txBody>
      </p:sp>
      <p:sp>
        <p:nvSpPr>
          <p:cNvPr id="101" name="Google Shape;101;p16"/>
          <p:cNvSpPr txBox="1"/>
          <p:nvPr>
            <p:ph idx="1" type="body"/>
          </p:nvPr>
        </p:nvSpPr>
        <p:spPr>
          <a:xfrm>
            <a:off x="534300" y="3139325"/>
            <a:ext cx="7839000" cy="16521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Platypi Light"/>
              <a:buChar char="●"/>
            </a:pPr>
            <a:r>
              <a:rPr lang="en">
                <a:latin typeface="Platypi Light"/>
                <a:ea typeface="Platypi Light"/>
                <a:cs typeface="Platypi Light"/>
                <a:sym typeface="Platypi Light"/>
              </a:rPr>
              <a:t>Develop UCF and CSV files based on data library</a:t>
            </a:r>
            <a:endParaRPr>
              <a:latin typeface="Platypi Light"/>
              <a:ea typeface="Platypi Light"/>
              <a:cs typeface="Platypi Light"/>
              <a:sym typeface="Platypi Light"/>
            </a:endParaRPr>
          </a:p>
          <a:p>
            <a:pPr indent="-342900" lvl="0" marL="457200" rtl="0" algn="l">
              <a:spcBef>
                <a:spcPts val="0"/>
              </a:spcBef>
              <a:spcAft>
                <a:spcPts val="0"/>
              </a:spcAft>
              <a:buSzPts val="1800"/>
              <a:buFont typeface="Platypi Light"/>
              <a:buChar char="●"/>
            </a:pPr>
            <a:r>
              <a:rPr lang="en">
                <a:latin typeface="Platypi Light"/>
                <a:ea typeface="Platypi Light"/>
                <a:cs typeface="Platypi Light"/>
                <a:sym typeface="Platypi Light"/>
              </a:rPr>
              <a:t>Cello runs and outputs expression scores</a:t>
            </a:r>
            <a:endParaRPr>
              <a:latin typeface="Platypi Light"/>
              <a:ea typeface="Platypi Light"/>
              <a:cs typeface="Platypi Light"/>
              <a:sym typeface="Platypi Light"/>
            </a:endParaRPr>
          </a:p>
          <a:p>
            <a:pPr indent="-342900" lvl="0" marL="457200" rtl="0" algn="l">
              <a:spcBef>
                <a:spcPts val="0"/>
              </a:spcBef>
              <a:spcAft>
                <a:spcPts val="0"/>
              </a:spcAft>
              <a:buSzPts val="1800"/>
              <a:buFont typeface="Platypi Light"/>
              <a:buChar char="●"/>
            </a:pPr>
            <a:r>
              <a:rPr lang="en">
                <a:latin typeface="Platypi Light"/>
                <a:ea typeface="Platypi Light"/>
                <a:cs typeface="Platypi Light"/>
                <a:sym typeface="Platypi Light"/>
              </a:rPr>
              <a:t>Knox uses these expression scores and their associated designs and evaluates these rules</a:t>
            </a:r>
            <a:endParaRPr>
              <a:latin typeface="Platypi Light"/>
              <a:ea typeface="Platypi Light"/>
              <a:cs typeface="Platypi Light"/>
              <a:sym typeface="Platypi Light"/>
            </a:endParaRPr>
          </a:p>
          <a:p>
            <a:pPr indent="-342900" lvl="0" marL="457200" rtl="0" algn="l">
              <a:spcBef>
                <a:spcPts val="0"/>
              </a:spcBef>
              <a:spcAft>
                <a:spcPts val="0"/>
              </a:spcAft>
              <a:buSzPts val="1800"/>
              <a:buFont typeface="Platypi Light"/>
              <a:buChar char="●"/>
            </a:pPr>
            <a:r>
              <a:rPr lang="en">
                <a:latin typeface="Platypi Light"/>
                <a:ea typeface="Platypi Light"/>
                <a:cs typeface="Platypi Light"/>
                <a:sym typeface="Platypi Light"/>
              </a:rPr>
              <a:t>ML used to rank these rules based on expression level</a:t>
            </a:r>
            <a:endParaRPr>
              <a:latin typeface="Platypi Light"/>
              <a:ea typeface="Platypi Light"/>
              <a:cs typeface="Platypi Light"/>
              <a:sym typeface="Platypi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5" name="Shape 105"/>
        <p:cNvGrpSpPr/>
        <p:nvPr/>
      </p:nvGrpSpPr>
      <p:grpSpPr>
        <a:xfrm>
          <a:off x="0" y="0"/>
          <a:ext cx="0" cy="0"/>
          <a:chOff x="0" y="0"/>
          <a:chExt cx="0" cy="0"/>
        </a:xfrm>
      </p:grpSpPr>
      <p:sp>
        <p:nvSpPr>
          <p:cNvPr id="106" name="Google Shape;106;p17"/>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solidFill>
                  <a:srgbClr val="343F00"/>
                </a:solidFill>
                <a:latin typeface="Platypi"/>
                <a:ea typeface="Platypi"/>
                <a:cs typeface="Platypi"/>
                <a:sym typeface="Platypi"/>
              </a:rPr>
              <a:t>Specification Overview - Meredith</a:t>
            </a:r>
            <a:endParaRPr>
              <a:solidFill>
                <a:srgbClr val="343F00"/>
              </a:solidFill>
              <a:latin typeface="Platypi"/>
              <a:ea typeface="Platypi"/>
              <a:cs typeface="Platypi"/>
              <a:sym typeface="Platypi"/>
            </a:endParaRPr>
          </a:p>
        </p:txBody>
      </p:sp>
      <p:grpSp>
        <p:nvGrpSpPr>
          <p:cNvPr id="107" name="Google Shape;107;p17"/>
          <p:cNvGrpSpPr/>
          <p:nvPr/>
        </p:nvGrpSpPr>
        <p:grpSpPr>
          <a:xfrm>
            <a:off x="127625" y="985077"/>
            <a:ext cx="8624325" cy="1983448"/>
            <a:chOff x="127625" y="985077"/>
            <a:chExt cx="8624325" cy="1983448"/>
          </a:xfrm>
        </p:grpSpPr>
        <p:sp>
          <p:nvSpPr>
            <p:cNvPr id="108" name="Google Shape;108;p17"/>
            <p:cNvSpPr/>
            <p:nvPr/>
          </p:nvSpPr>
          <p:spPr>
            <a:xfrm>
              <a:off x="1575350" y="985077"/>
              <a:ext cx="7176600" cy="1891800"/>
            </a:xfrm>
            <a:prstGeom prst="roundRect">
              <a:avLst>
                <a:gd fmla="val 16667" name="adj"/>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7"/>
            <p:cNvSpPr/>
            <p:nvPr/>
          </p:nvSpPr>
          <p:spPr>
            <a:xfrm>
              <a:off x="1729425" y="1044727"/>
              <a:ext cx="2236200" cy="1743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txBox="1"/>
            <p:nvPr/>
          </p:nvSpPr>
          <p:spPr>
            <a:xfrm rot="-731">
              <a:off x="127625" y="1567112"/>
              <a:ext cx="1410000" cy="4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Platypi Light"/>
                  <a:ea typeface="Platypi Light"/>
                  <a:cs typeface="Platypi Light"/>
                  <a:sym typeface="Platypi Light"/>
                </a:rPr>
                <a:t>Requirements</a:t>
              </a:r>
              <a:endParaRPr>
                <a:solidFill>
                  <a:schemeClr val="dk2"/>
                </a:solidFill>
                <a:latin typeface="Platypi Light"/>
                <a:ea typeface="Platypi Light"/>
                <a:cs typeface="Platypi Light"/>
                <a:sym typeface="Platypi Light"/>
              </a:endParaRPr>
            </a:p>
          </p:txBody>
        </p:sp>
        <p:sp>
          <p:nvSpPr>
            <p:cNvPr id="111" name="Google Shape;111;p17"/>
            <p:cNvSpPr txBox="1"/>
            <p:nvPr/>
          </p:nvSpPr>
          <p:spPr>
            <a:xfrm>
              <a:off x="1825850" y="1076725"/>
              <a:ext cx="2026800" cy="1891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u="sng">
                  <a:solidFill>
                    <a:schemeClr val="dk2"/>
                  </a:solidFill>
                  <a:latin typeface="Platypi"/>
                  <a:ea typeface="Platypi"/>
                  <a:cs typeface="Platypi"/>
                  <a:sym typeface="Platypi"/>
                </a:rPr>
                <a:t>Inputs</a:t>
              </a:r>
              <a:endParaRPr u="sng">
                <a:solidFill>
                  <a:schemeClr val="dk2"/>
                </a:solidFill>
                <a:latin typeface="Platypi"/>
                <a:ea typeface="Platypi"/>
                <a:cs typeface="Platypi"/>
                <a:sym typeface="Platypi"/>
              </a:endParaRPr>
            </a:p>
            <a:p>
              <a:pPr indent="0" lvl="0" marL="0" rtl="0" algn="l">
                <a:spcBef>
                  <a:spcPts val="0"/>
                </a:spcBef>
                <a:spcAft>
                  <a:spcPts val="0"/>
                </a:spcAft>
                <a:buNone/>
              </a:pPr>
              <a:r>
                <a:t/>
              </a:r>
              <a:endParaRPr sz="6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UCF</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Rules</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Parts</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.mat file</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Verilog file</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Input file</a:t>
              </a:r>
              <a:endParaRPr sz="1200">
                <a:solidFill>
                  <a:schemeClr val="dk2"/>
                </a:solidFill>
                <a:latin typeface="Platypi Light"/>
                <a:ea typeface="Platypi Light"/>
                <a:cs typeface="Platypi Light"/>
                <a:sym typeface="Platypi Light"/>
              </a:endParaRPr>
            </a:p>
            <a:p>
              <a:pPr indent="-299085" lvl="0" marL="457200" rtl="0" algn="l">
                <a:spcBef>
                  <a:spcPts val="0"/>
                </a:spcBef>
                <a:spcAft>
                  <a:spcPts val="0"/>
                </a:spcAft>
                <a:buClr>
                  <a:schemeClr val="dk2"/>
                </a:buClr>
                <a:buSzPct val="100000"/>
                <a:buFont typeface="Platypi Light"/>
                <a:buChar char="●"/>
              </a:pPr>
              <a:r>
                <a:rPr lang="en" sz="1200">
                  <a:solidFill>
                    <a:schemeClr val="dk2"/>
                  </a:solidFill>
                  <a:latin typeface="Platypi Light"/>
                  <a:ea typeface="Platypi Light"/>
                  <a:cs typeface="Platypi Light"/>
                  <a:sym typeface="Platypi Light"/>
                </a:rPr>
                <a:t>Output file</a:t>
              </a:r>
              <a:endParaRPr sz="1200">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200">
                <a:solidFill>
                  <a:schemeClr val="dk2"/>
                </a:solidFill>
                <a:latin typeface="Platypi Light"/>
                <a:ea typeface="Platypi Light"/>
                <a:cs typeface="Platypi Light"/>
                <a:sym typeface="Platypi Light"/>
              </a:endParaRPr>
            </a:p>
            <a:p>
              <a:pPr indent="0" lvl="0" marL="0" rtl="0" algn="ctr">
                <a:spcBef>
                  <a:spcPts val="0"/>
                </a:spcBef>
                <a:spcAft>
                  <a:spcPts val="0"/>
                </a:spcAft>
                <a:buNone/>
              </a:pPr>
              <a:r>
                <a:rPr lang="en" sz="1000">
                  <a:solidFill>
                    <a:schemeClr val="dk2"/>
                  </a:solidFill>
                  <a:latin typeface="Platypi Light"/>
                  <a:ea typeface="Platypi Light"/>
                  <a:cs typeface="Platypi Light"/>
                  <a:sym typeface="Platypi Light"/>
                </a:rPr>
                <a:t>All aside from .m must be in .csv for Knox </a:t>
              </a:r>
              <a:r>
                <a:rPr lang="en" sz="1000">
                  <a:solidFill>
                    <a:schemeClr val="dk2"/>
                  </a:solidFill>
                  <a:latin typeface="Platypi Light"/>
                  <a:ea typeface="Platypi Light"/>
                  <a:cs typeface="Platypi Light"/>
                  <a:sym typeface="Platypi Light"/>
                </a:rPr>
                <a:t>compatibility</a:t>
              </a:r>
              <a:endParaRPr sz="1000">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200">
                <a:solidFill>
                  <a:schemeClr val="dk2"/>
                </a:solidFill>
                <a:latin typeface="Platypi Light"/>
                <a:ea typeface="Platypi Light"/>
                <a:cs typeface="Platypi Light"/>
                <a:sym typeface="Platypi Light"/>
              </a:endParaRPr>
            </a:p>
          </p:txBody>
        </p:sp>
        <p:sp>
          <p:nvSpPr>
            <p:cNvPr id="112" name="Google Shape;112;p17"/>
            <p:cNvSpPr/>
            <p:nvPr/>
          </p:nvSpPr>
          <p:spPr>
            <a:xfrm>
              <a:off x="4051275" y="1044727"/>
              <a:ext cx="2236200" cy="1743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7"/>
            <p:cNvSpPr txBox="1"/>
            <p:nvPr/>
          </p:nvSpPr>
          <p:spPr>
            <a:xfrm>
              <a:off x="4082975" y="1048225"/>
              <a:ext cx="2186100" cy="171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2"/>
                  </a:solidFill>
                  <a:latin typeface="Platypi"/>
                  <a:ea typeface="Platypi"/>
                  <a:cs typeface="Platypi"/>
                  <a:sym typeface="Platypi"/>
                </a:rPr>
                <a:t>Outputs</a:t>
              </a:r>
              <a:endParaRPr u="sng">
                <a:solidFill>
                  <a:schemeClr val="dk2"/>
                </a:solidFill>
                <a:latin typeface="Platypi"/>
                <a:ea typeface="Platypi"/>
                <a:cs typeface="Platypi"/>
                <a:sym typeface="Platypi"/>
              </a:endParaRPr>
            </a:p>
            <a:p>
              <a:pPr indent="0" lvl="0" marL="0" rtl="0" algn="l">
                <a:spcBef>
                  <a:spcPts val="0"/>
                </a:spcBef>
                <a:spcAft>
                  <a:spcPts val="0"/>
                </a:spcAft>
                <a:buNone/>
              </a:pPr>
              <a:r>
                <a:t/>
              </a:r>
              <a:endParaRPr sz="16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Ranked Rules</a:t>
              </a:r>
              <a:endParaRPr sz="12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Knox and Cello Outputs</a:t>
              </a:r>
              <a:endParaRPr sz="1200">
                <a:solidFill>
                  <a:schemeClr val="dk2"/>
                </a:solidFill>
                <a:latin typeface="Platypi Light"/>
                <a:ea typeface="Platypi Light"/>
                <a:cs typeface="Platypi Light"/>
                <a:sym typeface="Platypi Light"/>
              </a:endParaRPr>
            </a:p>
            <a:p>
              <a:pPr indent="0" lvl="0" marL="0" rtl="0" algn="l">
                <a:spcBef>
                  <a:spcPts val="1000"/>
                </a:spcBef>
                <a:spcAft>
                  <a:spcPts val="0"/>
                </a:spcAft>
                <a:buNone/>
              </a:pPr>
              <a:r>
                <a:rPr lang="en" sz="1000">
                  <a:solidFill>
                    <a:schemeClr val="dk2"/>
                  </a:solidFill>
                  <a:latin typeface="Platypi Light"/>
                  <a:ea typeface="Platypi Light"/>
                  <a:cs typeface="Platypi Light"/>
                  <a:sym typeface="Platypi Light"/>
                </a:rPr>
                <a:t>Through performance stats. and rule rankings, users can optimize designs and test</a:t>
              </a:r>
              <a:endParaRPr sz="1000">
                <a:solidFill>
                  <a:schemeClr val="dk2"/>
                </a:solidFill>
                <a:latin typeface="Platypi Light"/>
                <a:ea typeface="Platypi Light"/>
                <a:cs typeface="Platypi Light"/>
                <a:sym typeface="Platypi Light"/>
              </a:endParaRPr>
            </a:p>
            <a:p>
              <a:pPr indent="0" lvl="0" marL="0" rtl="0" algn="l">
                <a:spcBef>
                  <a:spcPts val="1000"/>
                </a:spcBef>
                <a:spcAft>
                  <a:spcPts val="0"/>
                </a:spcAft>
                <a:buNone/>
              </a:pPr>
              <a:r>
                <a:t/>
              </a:r>
              <a:endParaRPr sz="1200">
                <a:solidFill>
                  <a:schemeClr val="dk2"/>
                </a:solidFill>
                <a:latin typeface="Platypi Light"/>
                <a:ea typeface="Platypi Light"/>
                <a:cs typeface="Platypi Light"/>
                <a:sym typeface="Platypi Light"/>
              </a:endParaRPr>
            </a:p>
          </p:txBody>
        </p:sp>
        <p:sp>
          <p:nvSpPr>
            <p:cNvPr id="114" name="Google Shape;114;p17"/>
            <p:cNvSpPr/>
            <p:nvPr/>
          </p:nvSpPr>
          <p:spPr>
            <a:xfrm>
              <a:off x="6373125" y="1044727"/>
              <a:ext cx="2236200" cy="1743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7"/>
            <p:cNvSpPr txBox="1"/>
            <p:nvPr/>
          </p:nvSpPr>
          <p:spPr>
            <a:xfrm>
              <a:off x="6386425" y="1076725"/>
              <a:ext cx="2186100" cy="165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2"/>
                  </a:solidFill>
                  <a:latin typeface="Platypi"/>
                  <a:ea typeface="Platypi"/>
                  <a:cs typeface="Platypi"/>
                  <a:sym typeface="Platypi"/>
                </a:rPr>
                <a:t>Performance</a:t>
              </a:r>
              <a:endParaRPr u="sng">
                <a:solidFill>
                  <a:schemeClr val="dk2"/>
                </a:solidFill>
                <a:latin typeface="Platypi"/>
                <a:ea typeface="Platypi"/>
                <a:cs typeface="Platypi"/>
                <a:sym typeface="Platypi"/>
              </a:endParaRPr>
            </a:p>
            <a:p>
              <a:pPr indent="0" lvl="0" marL="0" rtl="0" algn="ctr">
                <a:spcBef>
                  <a:spcPts val="0"/>
                </a:spcBef>
                <a:spcAft>
                  <a:spcPts val="0"/>
                </a:spcAft>
                <a:buNone/>
              </a:pPr>
              <a:r>
                <a:t/>
              </a:r>
              <a:endParaRPr sz="700" u="sng">
                <a:solidFill>
                  <a:schemeClr val="dk2"/>
                </a:solidFill>
                <a:latin typeface="Platypi"/>
                <a:ea typeface="Platypi"/>
                <a:cs typeface="Platypi"/>
                <a:sym typeface="Platypi"/>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Node.js + React for GUI</a:t>
              </a:r>
              <a:endParaRPr sz="12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Python for ML + Adapter Layer</a:t>
              </a:r>
              <a:endParaRPr sz="1200">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000">
                <a:solidFill>
                  <a:schemeClr val="dk2"/>
                </a:solidFill>
                <a:latin typeface="Platypi Light"/>
                <a:ea typeface="Platypi Light"/>
                <a:cs typeface="Platypi Light"/>
                <a:sym typeface="Platypi Light"/>
              </a:endParaRPr>
            </a:p>
            <a:p>
              <a:pPr indent="0" lvl="0" marL="0" rtl="0" algn="l">
                <a:spcBef>
                  <a:spcPts val="0"/>
                </a:spcBef>
                <a:spcAft>
                  <a:spcPts val="0"/>
                </a:spcAft>
                <a:buNone/>
              </a:pPr>
              <a:r>
                <a:rPr lang="en" sz="1000">
                  <a:solidFill>
                    <a:schemeClr val="dk2"/>
                  </a:solidFill>
                  <a:latin typeface="Platypi Light"/>
                  <a:ea typeface="Platypi Light"/>
                  <a:cs typeface="Platypi Light"/>
                  <a:sym typeface="Platypi Light"/>
                </a:rPr>
                <a:t>Industry standard framework for optimal performance</a:t>
              </a:r>
              <a:endParaRPr sz="1000">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u="sng">
                <a:solidFill>
                  <a:schemeClr val="dk2"/>
                </a:solidFill>
                <a:latin typeface="Platypi"/>
                <a:ea typeface="Platypi"/>
                <a:cs typeface="Platypi"/>
                <a:sym typeface="Platypi"/>
              </a:endParaRPr>
            </a:p>
          </p:txBody>
        </p:sp>
      </p:grpSp>
      <p:grpSp>
        <p:nvGrpSpPr>
          <p:cNvPr id="116" name="Google Shape;116;p17"/>
          <p:cNvGrpSpPr/>
          <p:nvPr/>
        </p:nvGrpSpPr>
        <p:grpSpPr>
          <a:xfrm>
            <a:off x="250275" y="2966577"/>
            <a:ext cx="8579375" cy="1891800"/>
            <a:chOff x="250275" y="2966577"/>
            <a:chExt cx="8579375" cy="1891800"/>
          </a:xfrm>
        </p:grpSpPr>
        <p:sp>
          <p:nvSpPr>
            <p:cNvPr id="117" name="Google Shape;117;p17"/>
            <p:cNvSpPr txBox="1"/>
            <p:nvPr/>
          </p:nvSpPr>
          <p:spPr>
            <a:xfrm>
              <a:off x="1922675" y="2996077"/>
              <a:ext cx="12417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latypi Light"/>
                  <a:ea typeface="Platypi Light"/>
                  <a:cs typeface="Platypi Light"/>
                  <a:sym typeface="Platypi Light"/>
                </a:rPr>
                <a:t>System</a:t>
              </a:r>
              <a:endParaRPr sz="1800">
                <a:solidFill>
                  <a:schemeClr val="dk2"/>
                </a:solidFill>
                <a:latin typeface="Platypi Light"/>
                <a:ea typeface="Platypi Light"/>
                <a:cs typeface="Platypi Light"/>
                <a:sym typeface="Platypi Light"/>
              </a:endParaRPr>
            </a:p>
          </p:txBody>
        </p:sp>
        <p:sp>
          <p:nvSpPr>
            <p:cNvPr id="118" name="Google Shape;118;p17"/>
            <p:cNvSpPr txBox="1"/>
            <p:nvPr/>
          </p:nvSpPr>
          <p:spPr>
            <a:xfrm>
              <a:off x="5422625" y="2996077"/>
              <a:ext cx="1241700" cy="4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latypi Light"/>
                  <a:ea typeface="Platypi Light"/>
                  <a:cs typeface="Platypi Light"/>
                  <a:sym typeface="Platypi Light"/>
                </a:rPr>
                <a:t>System</a:t>
              </a:r>
              <a:endParaRPr sz="1800">
                <a:solidFill>
                  <a:schemeClr val="dk2"/>
                </a:solidFill>
                <a:latin typeface="Platypi Light"/>
                <a:ea typeface="Platypi Light"/>
                <a:cs typeface="Platypi Light"/>
                <a:sym typeface="Platypi Light"/>
              </a:endParaRPr>
            </a:p>
          </p:txBody>
        </p:sp>
        <p:sp>
          <p:nvSpPr>
            <p:cNvPr id="119" name="Google Shape;119;p17"/>
            <p:cNvSpPr/>
            <p:nvPr/>
          </p:nvSpPr>
          <p:spPr>
            <a:xfrm>
              <a:off x="1575350" y="2966577"/>
              <a:ext cx="7254300" cy="1891800"/>
            </a:xfrm>
            <a:prstGeom prst="roundRect">
              <a:avLst>
                <a:gd fmla="val 16667" name="adj"/>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7"/>
            <p:cNvSpPr txBox="1"/>
            <p:nvPr/>
          </p:nvSpPr>
          <p:spPr>
            <a:xfrm rot="-755">
              <a:off x="250275" y="3705338"/>
              <a:ext cx="1366500" cy="4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Platypi Light"/>
                  <a:ea typeface="Platypi Light"/>
                  <a:cs typeface="Platypi Light"/>
                  <a:sym typeface="Platypi Light"/>
                </a:rPr>
                <a:t>Constraints</a:t>
              </a:r>
              <a:endParaRPr>
                <a:solidFill>
                  <a:schemeClr val="dk2"/>
                </a:solidFill>
                <a:latin typeface="Platypi Light"/>
                <a:ea typeface="Platypi Light"/>
                <a:cs typeface="Platypi Light"/>
                <a:sym typeface="Platypi Light"/>
              </a:endParaRPr>
            </a:p>
          </p:txBody>
        </p:sp>
        <p:sp>
          <p:nvSpPr>
            <p:cNvPr id="121" name="Google Shape;121;p17"/>
            <p:cNvSpPr/>
            <p:nvPr/>
          </p:nvSpPr>
          <p:spPr>
            <a:xfrm>
              <a:off x="1673750" y="3040977"/>
              <a:ext cx="3553800" cy="1743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7"/>
            <p:cNvSpPr/>
            <p:nvPr/>
          </p:nvSpPr>
          <p:spPr>
            <a:xfrm>
              <a:off x="5300875" y="3040977"/>
              <a:ext cx="3451200" cy="1743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7"/>
            <p:cNvSpPr txBox="1"/>
            <p:nvPr/>
          </p:nvSpPr>
          <p:spPr>
            <a:xfrm>
              <a:off x="1730450" y="3016775"/>
              <a:ext cx="3451200" cy="174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2"/>
                  </a:solidFill>
                  <a:latin typeface="Platypi Light"/>
                  <a:ea typeface="Platypi Light"/>
                  <a:cs typeface="Platypi Light"/>
                  <a:sym typeface="Platypi Light"/>
                </a:rPr>
                <a:t>Scope</a:t>
              </a:r>
              <a:endParaRPr u="sng">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700" u="sng">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Yeast Context</a:t>
              </a:r>
              <a:endParaRPr sz="12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Parts library based on provided data (.mat file)</a:t>
              </a:r>
              <a:endParaRPr sz="12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Fixed circuit length (8 parts)</a:t>
              </a:r>
              <a:endParaRPr sz="1200">
                <a:solidFill>
                  <a:schemeClr val="dk2"/>
                </a:solidFill>
                <a:latin typeface="Platypi Light"/>
                <a:ea typeface="Platypi Light"/>
                <a:cs typeface="Platypi Light"/>
                <a:sym typeface="Platypi Light"/>
              </a:endParaRPr>
            </a:p>
          </p:txBody>
        </p:sp>
        <p:sp>
          <p:nvSpPr>
            <p:cNvPr id="124" name="Google Shape;124;p17"/>
            <p:cNvSpPr txBox="1"/>
            <p:nvPr/>
          </p:nvSpPr>
          <p:spPr>
            <a:xfrm>
              <a:off x="5363000" y="3040975"/>
              <a:ext cx="3340800" cy="165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2"/>
                  </a:solidFill>
                  <a:latin typeface="Platypi Light"/>
                  <a:ea typeface="Platypi Light"/>
                  <a:cs typeface="Platypi Light"/>
                  <a:sym typeface="Platypi Light"/>
                </a:rPr>
                <a:t>System</a:t>
              </a:r>
              <a:endParaRPr u="sng">
                <a:solidFill>
                  <a:schemeClr val="dk2"/>
                </a:solidFill>
                <a:latin typeface="Platypi Light"/>
                <a:ea typeface="Platypi Light"/>
                <a:cs typeface="Platypi Light"/>
                <a:sym typeface="Platypi Light"/>
              </a:endParaRPr>
            </a:p>
            <a:p>
              <a:pPr indent="0" lvl="0" marL="0" rtl="0" algn="ctr">
                <a:spcBef>
                  <a:spcPts val="0"/>
                </a:spcBef>
                <a:spcAft>
                  <a:spcPts val="0"/>
                </a:spcAft>
                <a:buNone/>
              </a:pPr>
              <a:r>
                <a:t/>
              </a:r>
              <a:endParaRPr sz="1300" u="sng">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700" u="sng">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Docker + Local servers</a:t>
              </a:r>
              <a:endParaRPr sz="1200">
                <a:solidFill>
                  <a:schemeClr val="dk2"/>
                </a:solidFill>
                <a:latin typeface="Platypi Light"/>
                <a:ea typeface="Platypi Light"/>
                <a:cs typeface="Platypi Light"/>
                <a:sym typeface="Platypi Light"/>
              </a:endParaRPr>
            </a:p>
            <a:p>
              <a:pPr indent="-304800" lvl="0" marL="457200" rtl="0" algn="l">
                <a:spcBef>
                  <a:spcPts val="0"/>
                </a:spcBef>
                <a:spcAft>
                  <a:spcPts val="0"/>
                </a:spcAft>
                <a:buClr>
                  <a:schemeClr val="dk2"/>
                </a:buClr>
                <a:buSzPts val="1200"/>
                <a:buFont typeface="Platypi Light"/>
                <a:buChar char="●"/>
              </a:pPr>
              <a:r>
                <a:rPr lang="en" sz="1200">
                  <a:solidFill>
                    <a:schemeClr val="dk2"/>
                  </a:solidFill>
                  <a:latin typeface="Platypi Light"/>
                  <a:ea typeface="Platypi Light"/>
                  <a:cs typeface="Platypi Light"/>
                  <a:sym typeface="Platypi Light"/>
                </a:rPr>
                <a:t>Goldbar syntax for rules</a:t>
              </a:r>
              <a:endParaRPr sz="1200">
                <a:solidFill>
                  <a:schemeClr val="dk2"/>
                </a:solidFill>
                <a:latin typeface="Platypi Light"/>
                <a:ea typeface="Platypi Light"/>
                <a:cs typeface="Platypi Light"/>
                <a:sym typeface="Platypi Light"/>
              </a:endParaRPr>
            </a:p>
            <a:p>
              <a:pPr indent="0" lvl="0" marL="0" rtl="0" algn="l">
                <a:spcBef>
                  <a:spcPts val="0"/>
                </a:spcBef>
                <a:spcAft>
                  <a:spcPts val="0"/>
                </a:spcAft>
                <a:buNone/>
              </a:pPr>
              <a:r>
                <a:t/>
              </a:r>
              <a:endParaRPr sz="1200">
                <a:solidFill>
                  <a:schemeClr val="dk2"/>
                </a:solidFill>
                <a:latin typeface="Platypi Light"/>
                <a:ea typeface="Platypi Light"/>
                <a:cs typeface="Platypi Light"/>
                <a:sym typeface="Platypi Light"/>
              </a:endParaRPr>
            </a:p>
            <a:p>
              <a:pPr indent="0" lvl="0" marL="0" rtl="0" algn="l">
                <a:spcBef>
                  <a:spcPts val="0"/>
                </a:spcBef>
                <a:spcAft>
                  <a:spcPts val="0"/>
                </a:spcAft>
                <a:buNone/>
              </a:pPr>
              <a:r>
                <a:rPr lang="en" sz="1000">
                  <a:solidFill>
                    <a:schemeClr val="dk2"/>
                  </a:solidFill>
                  <a:latin typeface="Platypi Light"/>
                  <a:ea typeface="Platypi Light"/>
                  <a:cs typeface="Platypi Light"/>
                  <a:sym typeface="Platypi Light"/>
                </a:rPr>
                <a:t>Interoperability</a:t>
              </a:r>
              <a:r>
                <a:rPr lang="en" sz="1000">
                  <a:solidFill>
                    <a:schemeClr val="dk2"/>
                  </a:solidFill>
                  <a:latin typeface="Platypi Light"/>
                  <a:ea typeface="Platypi Light"/>
                  <a:cs typeface="Platypi Light"/>
                  <a:sym typeface="Platypi Light"/>
                </a:rPr>
                <a:t> </a:t>
              </a:r>
              <a:r>
                <a:rPr lang="en" sz="1000">
                  <a:solidFill>
                    <a:schemeClr val="dk2"/>
                  </a:solidFill>
                  <a:latin typeface="Platypi Light"/>
                  <a:ea typeface="Platypi Light"/>
                  <a:cs typeface="Platypi Light"/>
                  <a:sym typeface="Platypi Light"/>
                </a:rPr>
                <a:t>between Knox + Cello + RuleScape requires Docker to manage requests between tools</a:t>
              </a:r>
              <a:endParaRPr sz="1000">
                <a:solidFill>
                  <a:schemeClr val="dk2"/>
                </a:solidFill>
                <a:latin typeface="Platypi Light"/>
                <a:ea typeface="Platypi Light"/>
                <a:cs typeface="Platypi Light"/>
                <a:sym typeface="Platypi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8" name="Shape 128"/>
        <p:cNvGrpSpPr/>
        <p:nvPr/>
      </p:nvGrpSpPr>
      <p:grpSpPr>
        <a:xfrm>
          <a:off x="0" y="0"/>
          <a:ext cx="0" cy="0"/>
          <a:chOff x="0" y="0"/>
          <a:chExt cx="0" cy="0"/>
        </a:xfrm>
      </p:grpSpPr>
      <p:sp>
        <p:nvSpPr>
          <p:cNvPr id="129" name="Google Shape;12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solidFill>
                  <a:srgbClr val="343F00"/>
                </a:solidFill>
                <a:latin typeface="Platypi"/>
                <a:ea typeface="Platypi"/>
                <a:cs typeface="Platypi"/>
                <a:sym typeface="Platypi"/>
              </a:rPr>
              <a:t>System Diagrams - Meredith</a:t>
            </a:r>
            <a:endParaRPr/>
          </a:p>
        </p:txBody>
      </p:sp>
      <p:sp>
        <p:nvSpPr>
          <p:cNvPr id="130" name="Google Shape;130;p18"/>
          <p:cNvSpPr/>
          <p:nvPr/>
        </p:nvSpPr>
        <p:spPr>
          <a:xfrm>
            <a:off x="3055849" y="2013350"/>
            <a:ext cx="1269900" cy="1292700"/>
          </a:xfrm>
          <a:prstGeom prst="rect">
            <a:avLst/>
          </a:prstGeom>
          <a:solidFill>
            <a:schemeClr val="lt2"/>
          </a:solidFill>
          <a:ln cap="flat" cmpd="sng" w="11200">
            <a:solidFill>
              <a:schemeClr val="dk2"/>
            </a:solidFill>
            <a:prstDash val="solid"/>
            <a:round/>
            <a:headEnd len="sm" w="sm" type="none"/>
            <a:tailEnd len="sm" w="sm" type="none"/>
          </a:ln>
        </p:spPr>
        <p:txBody>
          <a:bodyPr anchorCtr="0" anchor="ctr" bIns="107650" lIns="107650" spcFirstLastPara="1" rIns="107650" wrap="square" tIns="107650">
            <a:noAutofit/>
          </a:bodyPr>
          <a:lstStyle/>
          <a:p>
            <a:pPr indent="0" lvl="0" marL="0" rtl="0" algn="ctr">
              <a:spcBef>
                <a:spcPts val="0"/>
              </a:spcBef>
              <a:spcAft>
                <a:spcPts val="0"/>
              </a:spcAft>
              <a:buNone/>
            </a:pPr>
            <a:r>
              <a:rPr lang="en" sz="1648">
                <a:latin typeface="Platypi"/>
                <a:ea typeface="Platypi"/>
                <a:cs typeface="Platypi"/>
                <a:sym typeface="Platypi"/>
              </a:rPr>
              <a:t>Cello</a:t>
            </a:r>
            <a:endParaRPr sz="1648">
              <a:latin typeface="Platypi"/>
              <a:ea typeface="Platypi"/>
              <a:cs typeface="Platypi"/>
              <a:sym typeface="Platypi"/>
            </a:endParaRPr>
          </a:p>
        </p:txBody>
      </p:sp>
      <p:sp>
        <p:nvSpPr>
          <p:cNvPr id="131" name="Google Shape;131;p18"/>
          <p:cNvSpPr/>
          <p:nvPr/>
        </p:nvSpPr>
        <p:spPr>
          <a:xfrm>
            <a:off x="4855950" y="2026625"/>
            <a:ext cx="1269900" cy="1292700"/>
          </a:xfrm>
          <a:prstGeom prst="rect">
            <a:avLst/>
          </a:prstGeom>
          <a:solidFill>
            <a:schemeClr val="lt2"/>
          </a:solidFill>
          <a:ln cap="flat" cmpd="sng" w="11200">
            <a:solidFill>
              <a:schemeClr val="dk2"/>
            </a:solidFill>
            <a:prstDash val="solid"/>
            <a:round/>
            <a:headEnd len="sm" w="sm" type="none"/>
            <a:tailEnd len="sm" w="sm" type="none"/>
          </a:ln>
        </p:spPr>
        <p:txBody>
          <a:bodyPr anchorCtr="0" anchor="ctr" bIns="107650" lIns="107650" spcFirstLastPara="1" rIns="107650" wrap="square" tIns="107650">
            <a:noAutofit/>
          </a:bodyPr>
          <a:lstStyle/>
          <a:p>
            <a:pPr indent="0" lvl="0" marL="0" rtl="0" algn="ctr">
              <a:spcBef>
                <a:spcPts val="0"/>
              </a:spcBef>
              <a:spcAft>
                <a:spcPts val="0"/>
              </a:spcAft>
              <a:buNone/>
            </a:pPr>
            <a:r>
              <a:rPr lang="en" sz="1648">
                <a:latin typeface="Platypi"/>
                <a:ea typeface="Platypi"/>
                <a:cs typeface="Platypi"/>
                <a:sym typeface="Platypi"/>
              </a:rPr>
              <a:t>Knox</a:t>
            </a:r>
            <a:endParaRPr sz="1648">
              <a:latin typeface="Platypi"/>
              <a:ea typeface="Platypi"/>
              <a:cs typeface="Platypi"/>
              <a:sym typeface="Platypi"/>
            </a:endParaRPr>
          </a:p>
        </p:txBody>
      </p:sp>
      <p:sp>
        <p:nvSpPr>
          <p:cNvPr id="132" name="Google Shape;132;p18"/>
          <p:cNvSpPr/>
          <p:nvPr/>
        </p:nvSpPr>
        <p:spPr>
          <a:xfrm>
            <a:off x="6585626" y="2013350"/>
            <a:ext cx="1269900" cy="1292700"/>
          </a:xfrm>
          <a:prstGeom prst="rect">
            <a:avLst/>
          </a:prstGeom>
          <a:solidFill>
            <a:schemeClr val="lt2"/>
          </a:solidFill>
          <a:ln cap="flat" cmpd="sng" w="11200">
            <a:solidFill>
              <a:schemeClr val="dk2"/>
            </a:solidFill>
            <a:prstDash val="solid"/>
            <a:round/>
            <a:headEnd len="sm" w="sm" type="none"/>
            <a:tailEnd len="sm" w="sm" type="none"/>
          </a:ln>
        </p:spPr>
        <p:txBody>
          <a:bodyPr anchorCtr="0" anchor="ctr" bIns="107650" lIns="107650" spcFirstLastPara="1" rIns="107650" wrap="square" tIns="107650">
            <a:noAutofit/>
          </a:bodyPr>
          <a:lstStyle/>
          <a:p>
            <a:pPr indent="0" lvl="0" marL="0" rtl="0" algn="ctr">
              <a:spcBef>
                <a:spcPts val="0"/>
              </a:spcBef>
              <a:spcAft>
                <a:spcPts val="0"/>
              </a:spcAft>
              <a:buNone/>
            </a:pPr>
            <a:r>
              <a:rPr lang="en" sz="1648">
                <a:latin typeface="Platypi"/>
                <a:ea typeface="Platypi"/>
                <a:cs typeface="Platypi"/>
                <a:sym typeface="Platypi"/>
              </a:rPr>
              <a:t>ML Algorithm</a:t>
            </a:r>
            <a:endParaRPr sz="1648">
              <a:latin typeface="Platypi"/>
              <a:ea typeface="Platypi"/>
              <a:cs typeface="Platypi"/>
              <a:sym typeface="Platypi"/>
            </a:endParaRPr>
          </a:p>
        </p:txBody>
      </p:sp>
      <p:cxnSp>
        <p:nvCxnSpPr>
          <p:cNvPr id="133" name="Google Shape;133;p18"/>
          <p:cNvCxnSpPr>
            <a:endCxn id="134" idx="1"/>
          </p:cNvCxnSpPr>
          <p:nvPr/>
        </p:nvCxnSpPr>
        <p:spPr>
          <a:xfrm>
            <a:off x="899725" y="2670475"/>
            <a:ext cx="347700" cy="2400"/>
          </a:xfrm>
          <a:prstGeom prst="straightConnector1">
            <a:avLst/>
          </a:prstGeom>
          <a:noFill/>
          <a:ln cap="flat" cmpd="sng" w="12600">
            <a:solidFill>
              <a:srgbClr val="38761D"/>
            </a:solidFill>
            <a:prstDash val="solid"/>
            <a:round/>
            <a:headEnd len="med" w="med" type="none"/>
            <a:tailEnd len="med" w="med" type="triangle"/>
          </a:ln>
        </p:spPr>
      </p:cxnSp>
      <p:sp>
        <p:nvSpPr>
          <p:cNvPr id="135" name="Google Shape;135;p18"/>
          <p:cNvSpPr txBox="1"/>
          <p:nvPr/>
        </p:nvSpPr>
        <p:spPr>
          <a:xfrm>
            <a:off x="58575" y="2252700"/>
            <a:ext cx="837900" cy="717900"/>
          </a:xfrm>
          <a:prstGeom prst="rect">
            <a:avLst/>
          </a:prstGeom>
          <a:noFill/>
          <a:ln>
            <a:noFill/>
          </a:ln>
        </p:spPr>
        <p:txBody>
          <a:bodyPr anchorCtr="0" anchor="t" bIns="120900" lIns="120900" spcFirstLastPara="1" rIns="120900" wrap="square" tIns="120900">
            <a:normAutofit fontScale="47500" lnSpcReduction="10000"/>
          </a:bodyPr>
          <a:lstStyle/>
          <a:p>
            <a:pPr indent="0" lvl="0" marL="0" rtl="0" algn="ctr">
              <a:spcBef>
                <a:spcPts val="0"/>
              </a:spcBef>
              <a:spcAft>
                <a:spcPts val="0"/>
              </a:spcAft>
              <a:buNone/>
            </a:pPr>
            <a:r>
              <a:rPr lang="en" sz="2380">
                <a:solidFill>
                  <a:schemeClr val="accent3"/>
                </a:solidFill>
                <a:latin typeface="Platypi Light"/>
                <a:ea typeface="Platypi Light"/>
                <a:cs typeface="Platypi Light"/>
                <a:sym typeface="Platypi Light"/>
              </a:rPr>
              <a:t>Real Data Library</a:t>
            </a:r>
            <a:endParaRPr sz="2380">
              <a:solidFill>
                <a:schemeClr val="accent3"/>
              </a:solidFill>
              <a:latin typeface="Platypi Light"/>
              <a:ea typeface="Platypi Light"/>
              <a:cs typeface="Platypi Light"/>
              <a:sym typeface="Platypi Light"/>
            </a:endParaRPr>
          </a:p>
        </p:txBody>
      </p:sp>
      <p:sp>
        <p:nvSpPr>
          <p:cNvPr id="134" name="Google Shape;134;p18"/>
          <p:cNvSpPr/>
          <p:nvPr/>
        </p:nvSpPr>
        <p:spPr>
          <a:xfrm>
            <a:off x="1247425" y="2026525"/>
            <a:ext cx="1308600" cy="1292700"/>
          </a:xfrm>
          <a:prstGeom prst="rect">
            <a:avLst/>
          </a:prstGeom>
          <a:solidFill>
            <a:schemeClr val="lt2"/>
          </a:solidFill>
          <a:ln cap="flat" cmpd="sng" w="11200">
            <a:solidFill>
              <a:schemeClr val="dk2"/>
            </a:solidFill>
            <a:prstDash val="solid"/>
            <a:round/>
            <a:headEnd len="sm" w="sm" type="none"/>
            <a:tailEnd len="sm" w="sm" type="none"/>
          </a:ln>
        </p:spPr>
        <p:txBody>
          <a:bodyPr anchorCtr="0" anchor="ctr" bIns="107650" lIns="107650" spcFirstLastPara="1" rIns="107650" wrap="square" tIns="107650">
            <a:noAutofit/>
          </a:bodyPr>
          <a:lstStyle/>
          <a:p>
            <a:pPr indent="0" lvl="0" marL="0" rtl="0" algn="ctr">
              <a:spcBef>
                <a:spcPts val="0"/>
              </a:spcBef>
              <a:spcAft>
                <a:spcPts val="0"/>
              </a:spcAft>
              <a:buNone/>
            </a:pPr>
            <a:r>
              <a:rPr lang="en" sz="1648">
                <a:latin typeface="Platypi"/>
                <a:ea typeface="Platypi"/>
                <a:cs typeface="Platypi"/>
                <a:sym typeface="Platypi"/>
              </a:rPr>
              <a:t>UCF/CSV File Generator</a:t>
            </a:r>
            <a:endParaRPr sz="1648">
              <a:latin typeface="Platypi"/>
              <a:ea typeface="Platypi"/>
              <a:cs typeface="Platypi"/>
              <a:sym typeface="Platypi"/>
            </a:endParaRPr>
          </a:p>
        </p:txBody>
      </p:sp>
      <p:cxnSp>
        <p:nvCxnSpPr>
          <p:cNvPr id="136" name="Google Shape;136;p18"/>
          <p:cNvCxnSpPr/>
          <p:nvPr/>
        </p:nvCxnSpPr>
        <p:spPr>
          <a:xfrm>
            <a:off x="4325710" y="2659706"/>
            <a:ext cx="530400" cy="0"/>
          </a:xfrm>
          <a:prstGeom prst="straightConnector1">
            <a:avLst/>
          </a:prstGeom>
          <a:noFill/>
          <a:ln cap="flat" cmpd="sng" w="12600">
            <a:solidFill>
              <a:schemeClr val="accent1"/>
            </a:solidFill>
            <a:prstDash val="solid"/>
            <a:round/>
            <a:headEnd len="med" w="med" type="none"/>
            <a:tailEnd len="med" w="med" type="triangle"/>
          </a:ln>
        </p:spPr>
      </p:cxnSp>
      <p:cxnSp>
        <p:nvCxnSpPr>
          <p:cNvPr id="137" name="Google Shape;137;p18"/>
          <p:cNvCxnSpPr/>
          <p:nvPr/>
        </p:nvCxnSpPr>
        <p:spPr>
          <a:xfrm>
            <a:off x="5490900" y="1694625"/>
            <a:ext cx="0" cy="352200"/>
          </a:xfrm>
          <a:prstGeom prst="straightConnector1">
            <a:avLst/>
          </a:prstGeom>
          <a:noFill/>
          <a:ln cap="flat" cmpd="sng" w="12600">
            <a:solidFill>
              <a:schemeClr val="dk1"/>
            </a:solidFill>
            <a:prstDash val="solid"/>
            <a:round/>
            <a:headEnd len="med" w="med" type="none"/>
            <a:tailEnd len="med" w="med" type="triangle"/>
          </a:ln>
        </p:spPr>
      </p:cxnSp>
      <p:sp>
        <p:nvSpPr>
          <p:cNvPr id="138" name="Google Shape;138;p18"/>
          <p:cNvSpPr txBox="1"/>
          <p:nvPr/>
        </p:nvSpPr>
        <p:spPr>
          <a:xfrm>
            <a:off x="3246375" y="3760500"/>
            <a:ext cx="1079400" cy="717900"/>
          </a:xfrm>
          <a:prstGeom prst="rect">
            <a:avLst/>
          </a:prstGeom>
          <a:noFill/>
          <a:ln>
            <a:noFill/>
          </a:ln>
        </p:spPr>
        <p:txBody>
          <a:bodyPr anchorCtr="0" anchor="t" bIns="120900" lIns="120900" spcFirstLastPara="1" rIns="120900" wrap="square" tIns="120900">
            <a:noAutofit/>
          </a:bodyPr>
          <a:lstStyle/>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Verilog file</a:t>
            </a:r>
            <a:endParaRPr sz="974">
              <a:solidFill>
                <a:schemeClr val="accent3"/>
              </a:solidFill>
              <a:latin typeface="Platypi Light"/>
              <a:ea typeface="Platypi Light"/>
              <a:cs typeface="Platypi Light"/>
              <a:sym typeface="Platypi Light"/>
            </a:endParaRPr>
          </a:p>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Input.json</a:t>
            </a:r>
            <a:endParaRPr sz="974">
              <a:solidFill>
                <a:schemeClr val="accent3"/>
              </a:solidFill>
              <a:latin typeface="Platypi Light"/>
              <a:ea typeface="Platypi Light"/>
              <a:cs typeface="Platypi Light"/>
              <a:sym typeface="Platypi Light"/>
            </a:endParaRPr>
          </a:p>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output.json</a:t>
            </a:r>
            <a:endParaRPr sz="974">
              <a:solidFill>
                <a:schemeClr val="accent3"/>
              </a:solidFill>
              <a:latin typeface="Platypi Light"/>
              <a:ea typeface="Platypi Light"/>
              <a:cs typeface="Platypi Light"/>
              <a:sym typeface="Platypi Light"/>
            </a:endParaRPr>
          </a:p>
        </p:txBody>
      </p:sp>
      <p:cxnSp>
        <p:nvCxnSpPr>
          <p:cNvPr id="139" name="Google Shape;139;p18"/>
          <p:cNvCxnSpPr>
            <a:stCxn id="131" idx="3"/>
            <a:endCxn id="132" idx="1"/>
          </p:cNvCxnSpPr>
          <p:nvPr/>
        </p:nvCxnSpPr>
        <p:spPr>
          <a:xfrm flipH="1" rot="10800000">
            <a:off x="6125850" y="2659775"/>
            <a:ext cx="459900" cy="13200"/>
          </a:xfrm>
          <a:prstGeom prst="straightConnector1">
            <a:avLst/>
          </a:prstGeom>
          <a:noFill/>
          <a:ln cap="flat" cmpd="sng" w="12600">
            <a:solidFill>
              <a:srgbClr val="38761D"/>
            </a:solidFill>
            <a:prstDash val="solid"/>
            <a:round/>
            <a:headEnd len="med" w="med" type="none"/>
            <a:tailEnd len="med" w="med" type="triangle"/>
          </a:ln>
        </p:spPr>
      </p:cxnSp>
      <p:cxnSp>
        <p:nvCxnSpPr>
          <p:cNvPr id="140" name="Google Shape;140;p18"/>
          <p:cNvCxnSpPr/>
          <p:nvPr/>
        </p:nvCxnSpPr>
        <p:spPr>
          <a:xfrm flipH="1" rot="10800000">
            <a:off x="7875789" y="2671775"/>
            <a:ext cx="408600" cy="2400"/>
          </a:xfrm>
          <a:prstGeom prst="straightConnector1">
            <a:avLst/>
          </a:prstGeom>
          <a:noFill/>
          <a:ln cap="flat" cmpd="sng" w="12600">
            <a:solidFill>
              <a:srgbClr val="38761D"/>
            </a:solidFill>
            <a:prstDash val="solid"/>
            <a:round/>
            <a:headEnd len="med" w="med" type="none"/>
            <a:tailEnd len="med" w="med" type="triangle"/>
          </a:ln>
        </p:spPr>
      </p:cxnSp>
      <p:sp>
        <p:nvSpPr>
          <p:cNvPr id="141" name="Google Shape;141;p18"/>
          <p:cNvSpPr txBox="1"/>
          <p:nvPr/>
        </p:nvSpPr>
        <p:spPr>
          <a:xfrm>
            <a:off x="8214700" y="2257350"/>
            <a:ext cx="975600" cy="802200"/>
          </a:xfrm>
          <a:prstGeom prst="rect">
            <a:avLst/>
          </a:prstGeom>
          <a:noFill/>
          <a:ln>
            <a:noFill/>
          </a:ln>
        </p:spPr>
        <p:txBody>
          <a:bodyPr anchorCtr="0" anchor="t" bIns="120900" lIns="120900" spcFirstLastPara="1" rIns="120900" wrap="square" tIns="120900">
            <a:normAutofit/>
          </a:bodyPr>
          <a:lstStyle/>
          <a:p>
            <a:pPr indent="0" lvl="0" marL="0" rtl="0" algn="l">
              <a:spcBef>
                <a:spcPts val="0"/>
              </a:spcBef>
              <a:spcAft>
                <a:spcPts val="0"/>
              </a:spcAft>
              <a:buSzPts val="770"/>
              <a:buNone/>
            </a:pPr>
            <a:r>
              <a:rPr lang="en" sz="1466">
                <a:solidFill>
                  <a:schemeClr val="accent3"/>
                </a:solidFill>
                <a:latin typeface="Platypi Light"/>
                <a:ea typeface="Platypi Light"/>
                <a:cs typeface="Platypi Light"/>
                <a:sym typeface="Platypi Light"/>
              </a:rPr>
              <a:t>Ranked rules</a:t>
            </a:r>
            <a:endParaRPr sz="1466">
              <a:solidFill>
                <a:schemeClr val="accent3"/>
              </a:solidFill>
              <a:latin typeface="Platypi Light"/>
              <a:ea typeface="Platypi Light"/>
              <a:cs typeface="Platypi Light"/>
              <a:sym typeface="Platypi Light"/>
            </a:endParaRPr>
          </a:p>
        </p:txBody>
      </p:sp>
      <p:sp>
        <p:nvSpPr>
          <p:cNvPr id="142" name="Google Shape;142;p18"/>
          <p:cNvSpPr txBox="1"/>
          <p:nvPr/>
        </p:nvSpPr>
        <p:spPr>
          <a:xfrm>
            <a:off x="4225500" y="2252700"/>
            <a:ext cx="730800" cy="461700"/>
          </a:xfrm>
          <a:prstGeom prst="rect">
            <a:avLst/>
          </a:prstGeom>
          <a:noFill/>
          <a:ln>
            <a:noFill/>
          </a:ln>
        </p:spPr>
        <p:txBody>
          <a:bodyPr anchorCtr="0" anchor="t" bIns="114975" lIns="114975" spcFirstLastPara="1" rIns="114975" wrap="square" tIns="114975">
            <a:normAutofit fontScale="40000" lnSpcReduction="20000"/>
          </a:bodyPr>
          <a:lstStyle/>
          <a:p>
            <a:pPr indent="0" lvl="0" marL="0" rtl="0" algn="l">
              <a:spcBef>
                <a:spcPts val="0"/>
              </a:spcBef>
              <a:spcAft>
                <a:spcPts val="0"/>
              </a:spcAft>
              <a:buNone/>
            </a:pPr>
            <a:r>
              <a:rPr lang="en" sz="2264">
                <a:solidFill>
                  <a:schemeClr val="accent3"/>
                </a:solidFill>
                <a:latin typeface="Platypi Light"/>
                <a:ea typeface="Platypi Light"/>
                <a:cs typeface="Platypi Light"/>
                <a:sym typeface="Platypi Light"/>
              </a:rPr>
              <a:t>Weights.csv</a:t>
            </a:r>
            <a:endParaRPr sz="2264">
              <a:solidFill>
                <a:schemeClr val="accent3"/>
              </a:solidFill>
              <a:latin typeface="Platypi Light"/>
              <a:ea typeface="Platypi Light"/>
              <a:cs typeface="Platypi Light"/>
              <a:sym typeface="Platypi Light"/>
            </a:endParaRPr>
          </a:p>
        </p:txBody>
      </p:sp>
      <p:sp>
        <p:nvSpPr>
          <p:cNvPr id="143" name="Google Shape;143;p18"/>
          <p:cNvSpPr txBox="1"/>
          <p:nvPr/>
        </p:nvSpPr>
        <p:spPr>
          <a:xfrm>
            <a:off x="6535375" y="3306050"/>
            <a:ext cx="1370400" cy="717900"/>
          </a:xfrm>
          <a:prstGeom prst="rect">
            <a:avLst/>
          </a:prstGeom>
          <a:noFill/>
          <a:ln>
            <a:noFill/>
          </a:ln>
        </p:spPr>
        <p:txBody>
          <a:bodyPr anchorCtr="0" anchor="t" bIns="120900" lIns="120900" spcFirstLastPara="1" rIns="120900" wrap="square" tIns="120900">
            <a:noAutofit/>
          </a:bodyPr>
          <a:lstStyle/>
          <a:p>
            <a:pPr indent="0" lvl="0" marL="0" rtl="0" algn="ctr">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XGBoost / Random Forest</a:t>
            </a:r>
            <a:endParaRPr sz="974">
              <a:solidFill>
                <a:schemeClr val="accent3"/>
              </a:solidFill>
              <a:latin typeface="Platypi Light"/>
              <a:ea typeface="Platypi Light"/>
              <a:cs typeface="Platypi Light"/>
              <a:sym typeface="Platypi Light"/>
            </a:endParaRPr>
          </a:p>
        </p:txBody>
      </p:sp>
      <p:cxnSp>
        <p:nvCxnSpPr>
          <p:cNvPr id="144" name="Google Shape;144;p18"/>
          <p:cNvCxnSpPr>
            <a:endCxn id="130" idx="1"/>
          </p:cNvCxnSpPr>
          <p:nvPr/>
        </p:nvCxnSpPr>
        <p:spPr>
          <a:xfrm flipH="1" rot="10800000">
            <a:off x="2550349" y="2659700"/>
            <a:ext cx="505500" cy="10800"/>
          </a:xfrm>
          <a:prstGeom prst="straightConnector1">
            <a:avLst/>
          </a:prstGeom>
          <a:noFill/>
          <a:ln cap="flat" cmpd="sng" w="12600">
            <a:solidFill>
              <a:srgbClr val="38761D"/>
            </a:solidFill>
            <a:prstDash val="solid"/>
            <a:round/>
            <a:headEnd len="med" w="med" type="none"/>
            <a:tailEnd len="med" w="med" type="triangle"/>
          </a:ln>
        </p:spPr>
      </p:cxnSp>
      <p:sp>
        <p:nvSpPr>
          <p:cNvPr id="145" name="Google Shape;145;p18"/>
          <p:cNvSpPr txBox="1"/>
          <p:nvPr/>
        </p:nvSpPr>
        <p:spPr>
          <a:xfrm>
            <a:off x="3226100" y="1017725"/>
            <a:ext cx="929400" cy="461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sz="1800">
                <a:solidFill>
                  <a:schemeClr val="dk2"/>
                </a:solidFill>
              </a:rPr>
              <a:t>Design.csv</a:t>
            </a:r>
            <a:endParaRPr sz="1800">
              <a:solidFill>
                <a:schemeClr val="dk2"/>
              </a:solidFill>
            </a:endParaRPr>
          </a:p>
          <a:p>
            <a:pPr indent="0" lvl="0" marL="0" rtl="0" algn="l">
              <a:spcBef>
                <a:spcPts val="0"/>
              </a:spcBef>
              <a:spcAft>
                <a:spcPts val="0"/>
              </a:spcAft>
              <a:buNone/>
            </a:pPr>
            <a:r>
              <a:rPr lang="en" sz="1800">
                <a:solidFill>
                  <a:schemeClr val="dk2"/>
                </a:solidFill>
              </a:rPr>
              <a:t>Parts.csv</a:t>
            </a:r>
            <a:endParaRPr sz="1800">
              <a:solidFill>
                <a:schemeClr val="dk2"/>
              </a:solidFill>
            </a:endParaRPr>
          </a:p>
        </p:txBody>
      </p:sp>
      <p:cxnSp>
        <p:nvCxnSpPr>
          <p:cNvPr id="146" name="Google Shape;146;p18"/>
          <p:cNvCxnSpPr>
            <a:stCxn id="134" idx="0"/>
          </p:cNvCxnSpPr>
          <p:nvPr/>
        </p:nvCxnSpPr>
        <p:spPr>
          <a:xfrm rot="-5400000">
            <a:off x="3195325" y="162625"/>
            <a:ext cx="570300" cy="3157500"/>
          </a:xfrm>
          <a:prstGeom prst="bentConnector2">
            <a:avLst/>
          </a:prstGeom>
          <a:noFill/>
          <a:ln cap="flat" cmpd="sng" w="9525">
            <a:solidFill>
              <a:srgbClr val="274E13"/>
            </a:solidFill>
            <a:prstDash val="solid"/>
            <a:round/>
            <a:headEnd len="med" w="med" type="none"/>
            <a:tailEnd len="med" w="med" type="triangle"/>
          </a:ln>
        </p:spPr>
      </p:cxnSp>
      <p:cxnSp>
        <p:nvCxnSpPr>
          <p:cNvPr id="147" name="Google Shape;147;p18"/>
          <p:cNvCxnSpPr/>
          <p:nvPr/>
        </p:nvCxnSpPr>
        <p:spPr>
          <a:xfrm flipH="1" rot="-10742710">
            <a:off x="3702063" y="3305858"/>
            <a:ext cx="18002" cy="454500"/>
          </a:xfrm>
          <a:prstGeom prst="straightConnector1">
            <a:avLst/>
          </a:prstGeom>
          <a:noFill/>
          <a:ln cap="flat" cmpd="sng" w="9525">
            <a:solidFill>
              <a:schemeClr val="dk2"/>
            </a:solidFill>
            <a:prstDash val="solid"/>
            <a:round/>
            <a:headEnd len="med" w="med" type="none"/>
            <a:tailEnd len="med" w="med" type="triangle"/>
          </a:ln>
        </p:spPr>
      </p:cxnSp>
      <p:sp>
        <p:nvSpPr>
          <p:cNvPr id="148" name="Google Shape;148;p18"/>
          <p:cNvSpPr txBox="1"/>
          <p:nvPr/>
        </p:nvSpPr>
        <p:spPr>
          <a:xfrm>
            <a:off x="5026199" y="976728"/>
            <a:ext cx="929400" cy="717900"/>
          </a:xfrm>
          <a:prstGeom prst="rect">
            <a:avLst/>
          </a:prstGeom>
          <a:noFill/>
          <a:ln>
            <a:noFill/>
          </a:ln>
        </p:spPr>
        <p:txBody>
          <a:bodyPr anchorCtr="0" anchor="t" bIns="120900" lIns="120900" spcFirstLastPara="1" rIns="120900" wrap="square" tIns="120900">
            <a:noAutofit/>
          </a:bodyPr>
          <a:lstStyle/>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Rules.csv</a:t>
            </a:r>
            <a:endParaRPr sz="974">
              <a:solidFill>
                <a:schemeClr val="accent3"/>
              </a:solidFill>
              <a:latin typeface="Platypi Light"/>
              <a:ea typeface="Platypi Light"/>
              <a:cs typeface="Platypi Light"/>
              <a:sym typeface="Platypi Light"/>
            </a:endParaRPr>
          </a:p>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Design.csv</a:t>
            </a:r>
            <a:endParaRPr sz="974">
              <a:solidFill>
                <a:schemeClr val="accent3"/>
              </a:solidFill>
              <a:latin typeface="Platypi Light"/>
              <a:ea typeface="Platypi Light"/>
              <a:cs typeface="Platypi Light"/>
              <a:sym typeface="Platypi Light"/>
            </a:endParaRPr>
          </a:p>
          <a:p>
            <a:pPr indent="0" lvl="0" marL="0" rtl="0" algn="l">
              <a:lnSpc>
                <a:spcPct val="150000"/>
              </a:lnSpc>
              <a:spcBef>
                <a:spcPts val="0"/>
              </a:spcBef>
              <a:spcAft>
                <a:spcPts val="0"/>
              </a:spcAft>
              <a:buSzPts val="358"/>
              <a:buNone/>
            </a:pPr>
            <a:r>
              <a:rPr lang="en" sz="974">
                <a:solidFill>
                  <a:schemeClr val="accent3"/>
                </a:solidFill>
                <a:latin typeface="Platypi Light"/>
                <a:ea typeface="Platypi Light"/>
                <a:cs typeface="Platypi Light"/>
                <a:sym typeface="Platypi Light"/>
              </a:rPr>
              <a:t>Parts.csv</a:t>
            </a:r>
            <a:endParaRPr sz="974">
              <a:solidFill>
                <a:schemeClr val="accent3"/>
              </a:solidFill>
              <a:latin typeface="Platypi Light"/>
              <a:ea typeface="Platypi Light"/>
              <a:cs typeface="Platypi Light"/>
              <a:sym typeface="Platypi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52" name="Shape 152"/>
        <p:cNvGrpSpPr/>
        <p:nvPr/>
      </p:nvGrpSpPr>
      <p:grpSpPr>
        <a:xfrm>
          <a:off x="0" y="0"/>
          <a:ext cx="0" cy="0"/>
          <a:chOff x="0" y="0"/>
          <a:chExt cx="0" cy="0"/>
        </a:xfrm>
      </p:grpSpPr>
      <p:sp>
        <p:nvSpPr>
          <p:cNvPr id="153" name="Google Shape;153;p19"/>
          <p:cNvSpPr txBox="1"/>
          <p:nvPr>
            <p:ph type="title"/>
          </p:nvPr>
        </p:nvSpPr>
        <p:spPr>
          <a:xfrm>
            <a:off x="311700" y="462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43F00"/>
                </a:solidFill>
                <a:latin typeface="Platypi"/>
                <a:ea typeface="Platypi"/>
                <a:cs typeface="Platypi"/>
                <a:sym typeface="Platypi"/>
              </a:rPr>
              <a:t>CLASSIC</a:t>
            </a:r>
            <a:r>
              <a:rPr lang="en"/>
              <a:t> </a:t>
            </a:r>
            <a:r>
              <a:rPr lang="en">
                <a:solidFill>
                  <a:srgbClr val="343F00"/>
                </a:solidFill>
                <a:latin typeface="Platypi"/>
                <a:ea typeface="Platypi"/>
                <a:cs typeface="Platypi"/>
                <a:sym typeface="Platypi"/>
              </a:rPr>
              <a:t>Dataset for Cello and Knox - Juliette</a:t>
            </a:r>
            <a:endParaRPr>
              <a:solidFill>
                <a:srgbClr val="343F00"/>
              </a:solidFill>
              <a:latin typeface="Platypi"/>
              <a:ea typeface="Platypi"/>
              <a:cs typeface="Platypi"/>
              <a:sym typeface="Platypi"/>
            </a:endParaRPr>
          </a:p>
        </p:txBody>
      </p:sp>
      <p:sp>
        <p:nvSpPr>
          <p:cNvPr id="154" name="Google Shape;154;p19"/>
          <p:cNvSpPr/>
          <p:nvPr/>
        </p:nvSpPr>
        <p:spPr>
          <a:xfrm>
            <a:off x="936600" y="1136913"/>
            <a:ext cx="7334400" cy="118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Platypi"/>
                <a:ea typeface="Platypi"/>
                <a:cs typeface="Platypi"/>
                <a:sym typeface="Platypi"/>
              </a:rPr>
              <a:t>CLASSIC Dataset: real experimental data from single-input library</a:t>
            </a:r>
            <a:endParaRPr>
              <a:solidFill>
                <a:schemeClr val="dk2"/>
              </a:solidFill>
              <a:latin typeface="Platypi"/>
              <a:ea typeface="Platypi"/>
              <a:cs typeface="Platypi"/>
              <a:sym typeface="Platypi"/>
            </a:endParaRPr>
          </a:p>
          <a:p>
            <a:pPr indent="-285750" lvl="0" marL="457200" rtl="0" algn="l">
              <a:lnSpc>
                <a:spcPct val="115000"/>
              </a:lnSpc>
              <a:spcBef>
                <a:spcPts val="1200"/>
              </a:spcBef>
              <a:spcAft>
                <a:spcPts val="0"/>
              </a:spcAft>
              <a:buClr>
                <a:schemeClr val="dk2"/>
              </a:buClr>
              <a:buSzPts val="900"/>
              <a:buFont typeface="Platypi"/>
              <a:buChar char="●"/>
            </a:pPr>
            <a:r>
              <a:rPr lang="en" sz="900">
                <a:solidFill>
                  <a:schemeClr val="dk2"/>
                </a:solidFill>
                <a:latin typeface="Platypi"/>
                <a:ea typeface="Platypi"/>
                <a:cs typeface="Platypi"/>
                <a:sym typeface="Platypi"/>
              </a:rPr>
              <a:t>Each row → genetic design corresponding to one particular biological construct built from a specific combination of designs </a:t>
            </a:r>
            <a:endParaRPr sz="900">
              <a:solidFill>
                <a:schemeClr val="dk2"/>
              </a:solidFill>
              <a:latin typeface="Platypi"/>
              <a:ea typeface="Platypi"/>
              <a:cs typeface="Platypi"/>
              <a:sym typeface="Platypi"/>
            </a:endParaRPr>
          </a:p>
          <a:p>
            <a:pPr indent="-285750" lvl="0" marL="457200" rtl="0" algn="l">
              <a:lnSpc>
                <a:spcPct val="115000"/>
              </a:lnSpc>
              <a:spcBef>
                <a:spcPts val="0"/>
              </a:spcBef>
              <a:spcAft>
                <a:spcPts val="0"/>
              </a:spcAft>
              <a:buClr>
                <a:schemeClr val="dk2"/>
              </a:buClr>
              <a:buSzPts val="900"/>
              <a:buFont typeface="Platypi"/>
              <a:buChar char="●"/>
            </a:pPr>
            <a:r>
              <a:rPr lang="en" sz="900">
                <a:solidFill>
                  <a:schemeClr val="dk2"/>
                </a:solidFill>
                <a:latin typeface="Platypi"/>
                <a:ea typeface="Platypi"/>
                <a:cs typeface="Platypi"/>
                <a:sym typeface="Platypi"/>
              </a:rPr>
              <a:t>Each design → 9 design factor column, basal expression, induced expression, fold change and a switch score</a:t>
            </a:r>
            <a:endParaRPr sz="900"/>
          </a:p>
        </p:txBody>
      </p:sp>
      <p:sp>
        <p:nvSpPr>
          <p:cNvPr id="155" name="Google Shape;155;p19"/>
          <p:cNvSpPr/>
          <p:nvPr/>
        </p:nvSpPr>
        <p:spPr>
          <a:xfrm>
            <a:off x="936600" y="2421275"/>
            <a:ext cx="7334400" cy="118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2"/>
                </a:solidFill>
                <a:latin typeface="Platypi"/>
                <a:ea typeface="Platypi"/>
                <a:cs typeface="Platypi"/>
                <a:sym typeface="Platypi"/>
              </a:rPr>
              <a:t>Cello Inputs</a:t>
            </a:r>
            <a:endParaRPr sz="1500">
              <a:solidFill>
                <a:schemeClr val="dk2"/>
              </a:solidFill>
              <a:latin typeface="Platypi"/>
              <a:ea typeface="Platypi"/>
              <a:cs typeface="Platypi"/>
              <a:sym typeface="Platypi"/>
            </a:endParaRPr>
          </a:p>
          <a:p>
            <a:pPr indent="-285750" lvl="0" marL="457200" rtl="0" algn="l">
              <a:lnSpc>
                <a:spcPct val="115000"/>
              </a:lnSpc>
              <a:spcBef>
                <a:spcPts val="1200"/>
              </a:spcBef>
              <a:spcAft>
                <a:spcPts val="0"/>
              </a:spcAft>
              <a:buClr>
                <a:schemeClr val="dk2"/>
              </a:buClr>
              <a:buSzPts val="900"/>
              <a:buFont typeface="Platypi"/>
              <a:buChar char="●"/>
            </a:pPr>
            <a:r>
              <a:rPr lang="en" sz="900">
                <a:solidFill>
                  <a:schemeClr val="dk2"/>
                </a:solidFill>
                <a:latin typeface="Platypi"/>
                <a:ea typeface="Platypi"/>
                <a:cs typeface="Platypi"/>
                <a:sym typeface="Platypi"/>
              </a:rPr>
              <a:t>User-Constraint File: A structured json that tells which gates exist, what model each gate uses, what parts and structures are associated with the gate, the mathematical response function describing the gate behavior</a:t>
            </a:r>
            <a:endParaRPr sz="900">
              <a:solidFill>
                <a:schemeClr val="dk2"/>
              </a:solidFill>
              <a:latin typeface="Platypi"/>
              <a:ea typeface="Platypi"/>
              <a:cs typeface="Platypi"/>
              <a:sym typeface="Platypi"/>
            </a:endParaRPr>
          </a:p>
          <a:p>
            <a:pPr indent="-285750" lvl="0" marL="457200" rtl="0" algn="l">
              <a:lnSpc>
                <a:spcPct val="115000"/>
              </a:lnSpc>
              <a:spcBef>
                <a:spcPts val="0"/>
              </a:spcBef>
              <a:spcAft>
                <a:spcPts val="0"/>
              </a:spcAft>
              <a:buClr>
                <a:schemeClr val="dk2"/>
              </a:buClr>
              <a:buSzPts val="900"/>
              <a:buFont typeface="Platypi"/>
              <a:buChar char="●"/>
            </a:pPr>
            <a:r>
              <a:rPr lang="en" sz="900">
                <a:solidFill>
                  <a:schemeClr val="dk2"/>
                </a:solidFill>
                <a:latin typeface="Platypi"/>
                <a:ea typeface="Platypi"/>
                <a:cs typeface="Platypi"/>
                <a:sym typeface="Platypi"/>
              </a:rPr>
              <a:t>Input, output, verilog </a:t>
            </a:r>
            <a:endParaRPr sz="900">
              <a:solidFill>
                <a:schemeClr val="dk2"/>
              </a:solidFill>
              <a:latin typeface="Platypi"/>
              <a:ea typeface="Platypi"/>
              <a:cs typeface="Platypi"/>
              <a:sym typeface="Platypi"/>
            </a:endParaRPr>
          </a:p>
        </p:txBody>
      </p:sp>
      <p:sp>
        <p:nvSpPr>
          <p:cNvPr id="156" name="Google Shape;156;p19"/>
          <p:cNvSpPr/>
          <p:nvPr/>
        </p:nvSpPr>
        <p:spPr>
          <a:xfrm>
            <a:off x="936600" y="3731275"/>
            <a:ext cx="7334400" cy="118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Platypi"/>
                <a:ea typeface="Platypi"/>
                <a:cs typeface="Platypi"/>
                <a:sym typeface="Platypi"/>
              </a:rPr>
              <a:t>Knox Inputs</a:t>
            </a:r>
            <a:endParaRPr>
              <a:solidFill>
                <a:schemeClr val="dk2"/>
              </a:solidFill>
              <a:latin typeface="Platypi"/>
              <a:ea typeface="Platypi"/>
              <a:cs typeface="Platypi"/>
              <a:sym typeface="Platypi"/>
            </a:endParaRPr>
          </a:p>
          <a:p>
            <a:pPr indent="-298450" lvl="0" marL="457200" rtl="0" algn="l">
              <a:lnSpc>
                <a:spcPct val="100000"/>
              </a:lnSpc>
              <a:spcBef>
                <a:spcPts val="1000"/>
              </a:spcBef>
              <a:spcAft>
                <a:spcPts val="0"/>
              </a:spcAft>
              <a:buClr>
                <a:schemeClr val="dk2"/>
              </a:buClr>
              <a:buSzPts val="1100"/>
              <a:buFont typeface="Platypi"/>
              <a:buChar char="●"/>
            </a:pPr>
            <a:r>
              <a:rPr lang="en" sz="1100">
                <a:solidFill>
                  <a:schemeClr val="dk2"/>
                </a:solidFill>
                <a:latin typeface="Platypi"/>
                <a:ea typeface="Platypi"/>
                <a:cs typeface="Platypi"/>
                <a:sym typeface="Platypi"/>
              </a:rPr>
              <a:t>Designs</a:t>
            </a:r>
            <a:endParaRPr sz="1100">
              <a:solidFill>
                <a:schemeClr val="dk2"/>
              </a:solidFill>
              <a:latin typeface="Platypi"/>
              <a:ea typeface="Platypi"/>
              <a:cs typeface="Platypi"/>
              <a:sym typeface="Platypi"/>
            </a:endParaRPr>
          </a:p>
          <a:p>
            <a:pPr indent="-298450" lvl="0" marL="457200" rtl="0" algn="l">
              <a:lnSpc>
                <a:spcPct val="100000"/>
              </a:lnSpc>
              <a:spcBef>
                <a:spcPts val="0"/>
              </a:spcBef>
              <a:spcAft>
                <a:spcPts val="0"/>
              </a:spcAft>
              <a:buClr>
                <a:schemeClr val="dk2"/>
              </a:buClr>
              <a:buSzPts val="1100"/>
              <a:buFont typeface="Platypi"/>
              <a:buChar char="●"/>
            </a:pPr>
            <a:r>
              <a:rPr lang="en" sz="1100">
                <a:solidFill>
                  <a:schemeClr val="dk2"/>
                </a:solidFill>
                <a:latin typeface="Platypi"/>
                <a:ea typeface="Platypi"/>
                <a:cs typeface="Platypi"/>
                <a:sym typeface="Platypi"/>
              </a:rPr>
              <a:t>Parts</a:t>
            </a:r>
            <a:endParaRPr sz="1100">
              <a:solidFill>
                <a:schemeClr val="dk2"/>
              </a:solidFill>
              <a:latin typeface="Platypi"/>
              <a:ea typeface="Platypi"/>
              <a:cs typeface="Platypi"/>
              <a:sym typeface="Platypi"/>
            </a:endParaRPr>
          </a:p>
          <a:p>
            <a:pPr indent="-298450" lvl="0" marL="457200" rtl="0" algn="l">
              <a:lnSpc>
                <a:spcPct val="100000"/>
              </a:lnSpc>
              <a:spcBef>
                <a:spcPts val="0"/>
              </a:spcBef>
              <a:spcAft>
                <a:spcPts val="0"/>
              </a:spcAft>
              <a:buClr>
                <a:schemeClr val="dk2"/>
              </a:buClr>
              <a:buSzPts val="1100"/>
              <a:buFont typeface="Platypi"/>
              <a:buChar char="●"/>
            </a:pPr>
            <a:r>
              <a:rPr lang="en" sz="1100">
                <a:solidFill>
                  <a:schemeClr val="dk2"/>
                </a:solidFill>
                <a:latin typeface="Platypi"/>
                <a:ea typeface="Platypi"/>
                <a:cs typeface="Platypi"/>
                <a:sym typeface="Platypi"/>
              </a:rPr>
              <a:t>Rules (user-defined)</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60" name="Shape 160"/>
        <p:cNvGrpSpPr/>
        <p:nvPr/>
      </p:nvGrpSpPr>
      <p:grpSpPr>
        <a:xfrm>
          <a:off x="0" y="0"/>
          <a:ext cx="0" cy="0"/>
          <a:chOff x="0" y="0"/>
          <a:chExt cx="0" cy="0"/>
        </a:xfrm>
      </p:grpSpPr>
      <p:sp>
        <p:nvSpPr>
          <p:cNvPr id="161" name="Google Shape;16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SzPts val="990"/>
              <a:buNone/>
            </a:pPr>
            <a:r>
              <a:rPr lang="en" sz="2020">
                <a:solidFill>
                  <a:srgbClr val="343F00"/>
                </a:solidFill>
                <a:latin typeface="Platypi"/>
                <a:ea typeface="Platypi"/>
                <a:cs typeface="Platypi"/>
                <a:sym typeface="Platypi"/>
              </a:rPr>
              <a:t>UCF / input / output / verilog files - Juliette</a:t>
            </a:r>
            <a:endParaRPr sz="2020">
              <a:solidFill>
                <a:srgbClr val="343F00"/>
              </a:solidFill>
              <a:latin typeface="Platypi"/>
              <a:ea typeface="Platypi"/>
              <a:cs typeface="Platypi"/>
              <a:sym typeface="Platypi"/>
            </a:endParaRPr>
          </a:p>
        </p:txBody>
      </p:sp>
      <p:pic>
        <p:nvPicPr>
          <p:cNvPr id="162" name="Google Shape;162;p20" title="Screenshot 2026-04-19 at 12.41.09 PM.png"/>
          <p:cNvPicPr preferRelativeResize="0"/>
          <p:nvPr/>
        </p:nvPicPr>
        <p:blipFill>
          <a:blip r:embed="rId3">
            <a:alphaModFix/>
          </a:blip>
          <a:stretch>
            <a:fillRect/>
          </a:stretch>
        </p:blipFill>
        <p:spPr>
          <a:xfrm>
            <a:off x="5502000" y="2246826"/>
            <a:ext cx="3641999" cy="2696074"/>
          </a:xfrm>
          <a:prstGeom prst="rect">
            <a:avLst/>
          </a:prstGeom>
          <a:noFill/>
          <a:ln>
            <a:noFill/>
          </a:ln>
        </p:spPr>
      </p:pic>
      <p:sp>
        <p:nvSpPr>
          <p:cNvPr id="163" name="Google Shape;163;p20"/>
          <p:cNvSpPr txBox="1"/>
          <p:nvPr>
            <p:ph idx="1" type="body"/>
          </p:nvPr>
        </p:nvSpPr>
        <p:spPr>
          <a:xfrm>
            <a:off x="410875" y="934600"/>
            <a:ext cx="5145300" cy="400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055">
                <a:latin typeface="Platypi"/>
                <a:ea typeface="Platypi"/>
                <a:cs typeface="Platypi"/>
                <a:sym typeface="Platypi"/>
              </a:rPr>
              <a:t>Step 1: </a:t>
            </a:r>
            <a:r>
              <a:rPr lang="en" sz="1055">
                <a:latin typeface="Platypi"/>
                <a:ea typeface="Platypi"/>
                <a:cs typeface="Platypi"/>
                <a:sym typeface="Platypi"/>
              </a:rPr>
              <a:t>Load CLASSIC dataset</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Step 2: Compute switch score </a:t>
            </a:r>
            <a:endParaRPr sz="1055">
              <a:latin typeface="Platypi"/>
              <a:ea typeface="Platypi"/>
              <a:cs typeface="Platypi"/>
              <a:sym typeface="Platypi"/>
            </a:endParaRPr>
          </a:p>
          <a:p>
            <a:pPr indent="-295593" lvl="0" marL="457200" rtl="0" algn="l">
              <a:lnSpc>
                <a:spcPct val="150000"/>
              </a:lnSpc>
              <a:spcBef>
                <a:spcPts val="0"/>
              </a:spcBef>
              <a:spcAft>
                <a:spcPts val="0"/>
              </a:spcAft>
              <a:buSzPts val="1055"/>
              <a:buFont typeface="Platypi"/>
              <a:buChar char="-"/>
            </a:pPr>
            <a:r>
              <a:rPr lang="en" sz="1055">
                <a:latin typeface="Platypi"/>
                <a:ea typeface="Platypi"/>
                <a:cs typeface="Platypi"/>
                <a:sym typeface="Platypi"/>
              </a:rPr>
              <a:t>Rank designs based on switch strength</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Step 3: Clean and structure data for Cello</a:t>
            </a:r>
            <a:endParaRPr sz="1055">
              <a:latin typeface="Platypi"/>
              <a:ea typeface="Platypi"/>
              <a:cs typeface="Platypi"/>
              <a:sym typeface="Platypi"/>
            </a:endParaRPr>
          </a:p>
          <a:p>
            <a:pPr indent="-295593" lvl="0" marL="457200" rtl="0" algn="l">
              <a:lnSpc>
                <a:spcPct val="150000"/>
              </a:lnSpc>
              <a:spcBef>
                <a:spcPts val="0"/>
              </a:spcBef>
              <a:spcAft>
                <a:spcPts val="0"/>
              </a:spcAft>
              <a:buSzPts val="1055"/>
              <a:buFont typeface="Platypi"/>
              <a:buChar char="-"/>
            </a:pPr>
            <a:r>
              <a:rPr lang="en" sz="1055">
                <a:latin typeface="Platypi"/>
                <a:ea typeface="Platypi"/>
                <a:cs typeface="Platypi"/>
                <a:sym typeface="Platypi"/>
              </a:rPr>
              <a:t>Choose which rows to export for training dataset (ex: mode=top_100) separated by switch score</a:t>
            </a:r>
            <a:endParaRPr sz="1055">
              <a:latin typeface="Platypi"/>
              <a:ea typeface="Platypi"/>
              <a:cs typeface="Platypi"/>
              <a:sym typeface="Platypi"/>
            </a:endParaRPr>
          </a:p>
          <a:p>
            <a:pPr indent="-295593" lvl="0" marL="457200" rtl="0" algn="l">
              <a:lnSpc>
                <a:spcPct val="150000"/>
              </a:lnSpc>
              <a:spcBef>
                <a:spcPts val="0"/>
              </a:spcBef>
              <a:spcAft>
                <a:spcPts val="0"/>
              </a:spcAft>
              <a:buSzPts val="1055"/>
              <a:buFont typeface="Platypi"/>
              <a:buChar char="-"/>
            </a:pPr>
            <a:r>
              <a:rPr lang="en" sz="1055">
                <a:latin typeface="Platypi"/>
                <a:ea typeface="Platypi"/>
                <a:cs typeface="Platypi"/>
                <a:sym typeface="Platypi"/>
              </a:rPr>
              <a:t>Give each exported design a stable identity (CLASSIC_SI_000001) and convert each row to a Cello gate, model and structure (single-input data acts as a NOT gate)</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Step 4: Create parts section - </a:t>
            </a:r>
            <a:r>
              <a:rPr b="1" lang="en" sz="1055">
                <a:latin typeface="Platypi"/>
                <a:ea typeface="Platypi"/>
                <a:cs typeface="Platypi"/>
                <a:sym typeface="Platypi"/>
              </a:rPr>
              <a:t>unique</a:t>
            </a:r>
            <a:r>
              <a:rPr lang="en" sz="1055">
                <a:latin typeface="Platypi"/>
                <a:ea typeface="Platypi"/>
                <a:cs typeface="Platypi"/>
                <a:sym typeface="Platypi"/>
              </a:rPr>
              <a:t> reusable </a:t>
            </a:r>
            <a:r>
              <a:rPr lang="en" sz="1055">
                <a:latin typeface="Platypi"/>
                <a:ea typeface="Platypi"/>
                <a:cs typeface="Platypi"/>
                <a:sym typeface="Platypi"/>
              </a:rPr>
              <a:t>components</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Step 5: Input and output json files with input sensors and output reporters</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Stsaaaaaa 6: Verliog → NOT gate for single-input library</a:t>
            </a:r>
            <a:endParaRPr sz="1055">
              <a:latin typeface="Platypi"/>
              <a:ea typeface="Platypi"/>
              <a:cs typeface="Platypi"/>
              <a:sym typeface="Platypi"/>
            </a:endParaRPr>
          </a:p>
          <a:p>
            <a:pPr indent="0" lvl="0" marL="0" rtl="0" algn="l">
              <a:lnSpc>
                <a:spcPct val="150000"/>
              </a:lnSpc>
              <a:spcBef>
                <a:spcPts val="0"/>
              </a:spcBef>
              <a:spcAft>
                <a:spcPts val="0"/>
              </a:spcAft>
              <a:buNone/>
            </a:pPr>
            <a:r>
              <a:rPr lang="en" sz="1055">
                <a:latin typeface="Platypi"/>
                <a:ea typeface="Platypi"/>
                <a:cs typeface="Platypi"/>
                <a:sym typeface="Platypi"/>
              </a:rPr>
              <a:t>Step 7: Inputs to Cello → out of all the gates in this UCF, which one best implements the logical behavior? It </a:t>
            </a:r>
            <a:r>
              <a:rPr lang="en" sz="1055">
                <a:latin typeface="Platypi"/>
                <a:ea typeface="Platypi"/>
                <a:cs typeface="Platypi"/>
                <a:sym typeface="Platypi"/>
              </a:rPr>
              <a:t>outputs</a:t>
            </a:r>
            <a:r>
              <a:rPr lang="en" sz="1055">
                <a:latin typeface="Platypi"/>
                <a:ea typeface="Platypi"/>
                <a:cs typeface="Platypi"/>
                <a:sym typeface="Platypi"/>
              </a:rPr>
              <a:t> a functional score for a selected design</a:t>
            </a:r>
            <a:endParaRPr sz="1055">
              <a:latin typeface="Platypi"/>
              <a:ea typeface="Platypi"/>
              <a:cs typeface="Platypi"/>
              <a:sym typeface="Platypi"/>
            </a:endParaRPr>
          </a:p>
        </p:txBody>
      </p:sp>
      <p:pic>
        <p:nvPicPr>
          <p:cNvPr id="164" name="Google Shape;164;p20" title="Screenshot 2026-04-19 at 1.04.03 PM.png"/>
          <p:cNvPicPr preferRelativeResize="0"/>
          <p:nvPr/>
        </p:nvPicPr>
        <p:blipFill>
          <a:blip r:embed="rId4">
            <a:alphaModFix/>
          </a:blip>
          <a:stretch>
            <a:fillRect/>
          </a:stretch>
        </p:blipFill>
        <p:spPr>
          <a:xfrm>
            <a:off x="5948775" y="115575"/>
            <a:ext cx="3118625" cy="199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68" name="Shape 168"/>
        <p:cNvGrpSpPr/>
        <p:nvPr/>
      </p:nvGrpSpPr>
      <p:grpSpPr>
        <a:xfrm>
          <a:off x="0" y="0"/>
          <a:ext cx="0" cy="0"/>
          <a:chOff x="0" y="0"/>
          <a:chExt cx="0" cy="0"/>
        </a:xfrm>
      </p:grpSpPr>
      <p:sp>
        <p:nvSpPr>
          <p:cNvPr id="169" name="Google Shape;16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solidFill>
                  <a:srgbClr val="343F00"/>
                </a:solidFill>
                <a:latin typeface="Platypi"/>
                <a:ea typeface="Platypi"/>
                <a:cs typeface="Platypi"/>
                <a:sym typeface="Platypi"/>
              </a:rPr>
              <a:t>Knox Files - Meredith</a:t>
            </a:r>
            <a:endParaRPr/>
          </a:p>
        </p:txBody>
      </p:sp>
      <p:sp>
        <p:nvSpPr>
          <p:cNvPr id="170" name="Google Shape;170;p21"/>
          <p:cNvSpPr txBox="1"/>
          <p:nvPr>
            <p:ph idx="1" type="body"/>
          </p:nvPr>
        </p:nvSpPr>
        <p:spPr>
          <a:xfrm>
            <a:off x="311700" y="924350"/>
            <a:ext cx="4753800" cy="41397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523"/>
              <a:buNone/>
            </a:pPr>
            <a:r>
              <a:rPr lang="en" sz="900">
                <a:latin typeface="Platypi"/>
                <a:ea typeface="Platypi"/>
                <a:cs typeface="Platypi"/>
                <a:sym typeface="Platypi"/>
              </a:rPr>
              <a:t>Step 1: Load CLASSIC dataset</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2: Parse the keys of the .mat file into data frames</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Assign_df: Part assignments for each design</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Exp_df: Expression measurements</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3: Build part library</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Maps column prefixes to parts (CDS, Promoter, etc.)</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Generates unique part IDs using design_col_{column number}_{component ID)</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Outputs part_library</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4: Build designs library</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Converts each row of assign_df into string of part IDs, separated by commas</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Each row represents one design</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5: Export to CSV files</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part_library.csv</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designs.csv</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6: Generate a rules .csv file using GOLDBAR</a:t>
            </a:r>
            <a:endParaRPr sz="900">
              <a:latin typeface="Platypi"/>
              <a:ea typeface="Platypi"/>
              <a:cs typeface="Platypi"/>
              <a:sym typeface="Platypi"/>
            </a:endParaRPr>
          </a:p>
          <a:p>
            <a:pPr indent="0" lvl="0" marL="0" rtl="0" algn="l">
              <a:lnSpc>
                <a:spcPct val="140000"/>
              </a:lnSpc>
              <a:spcBef>
                <a:spcPts val="0"/>
              </a:spcBef>
              <a:spcAft>
                <a:spcPts val="0"/>
              </a:spcAft>
              <a:buSzPts val="523"/>
              <a:buNone/>
            </a:pPr>
            <a:r>
              <a:rPr lang="en" sz="900">
                <a:latin typeface="Platypi"/>
                <a:ea typeface="Platypi"/>
                <a:cs typeface="Platypi"/>
                <a:sym typeface="Platypi"/>
              </a:rPr>
              <a:t>Step 7: Import to Knox</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Import part_library, designs, csv to Knox</a:t>
            </a:r>
            <a:endParaRPr sz="900">
              <a:latin typeface="Platypi"/>
              <a:ea typeface="Platypi"/>
              <a:cs typeface="Platypi"/>
              <a:sym typeface="Platypi"/>
            </a:endParaRPr>
          </a:p>
          <a:p>
            <a:pPr indent="-285750" lvl="0" marL="457200" rtl="0" algn="l">
              <a:lnSpc>
                <a:spcPct val="140000"/>
              </a:lnSpc>
              <a:spcBef>
                <a:spcPts val="0"/>
              </a:spcBef>
              <a:spcAft>
                <a:spcPts val="0"/>
              </a:spcAft>
              <a:buSzPts val="900"/>
              <a:buFont typeface="Platypi"/>
              <a:buChar char="-"/>
            </a:pPr>
            <a:r>
              <a:rPr lang="en" sz="900">
                <a:latin typeface="Platypi"/>
                <a:ea typeface="Platypi"/>
                <a:cs typeface="Platypi"/>
                <a:sym typeface="Platypi"/>
              </a:rPr>
              <a:t>Cello expression outputs are converted into a .csv file and imported into Knox</a:t>
            </a:r>
            <a:endParaRPr sz="900">
              <a:latin typeface="Platypi"/>
              <a:ea typeface="Platypi"/>
              <a:cs typeface="Platypi"/>
              <a:sym typeface="Platypi"/>
            </a:endParaRPr>
          </a:p>
        </p:txBody>
      </p:sp>
      <p:pic>
        <p:nvPicPr>
          <p:cNvPr id="171" name="Google Shape;171;p21"/>
          <p:cNvPicPr preferRelativeResize="0"/>
          <p:nvPr/>
        </p:nvPicPr>
        <p:blipFill>
          <a:blip r:embed="rId3">
            <a:alphaModFix/>
          </a:blip>
          <a:stretch>
            <a:fillRect/>
          </a:stretch>
        </p:blipFill>
        <p:spPr>
          <a:xfrm>
            <a:off x="4321525" y="40125"/>
            <a:ext cx="3435399" cy="2149901"/>
          </a:xfrm>
          <a:prstGeom prst="rect">
            <a:avLst/>
          </a:prstGeom>
          <a:noFill/>
          <a:ln>
            <a:noFill/>
          </a:ln>
        </p:spPr>
      </p:pic>
      <p:pic>
        <p:nvPicPr>
          <p:cNvPr id="172" name="Google Shape;172;p21"/>
          <p:cNvPicPr preferRelativeResize="0"/>
          <p:nvPr/>
        </p:nvPicPr>
        <p:blipFill>
          <a:blip r:embed="rId4">
            <a:alphaModFix/>
          </a:blip>
          <a:stretch>
            <a:fillRect/>
          </a:stretch>
        </p:blipFill>
        <p:spPr>
          <a:xfrm>
            <a:off x="7756926" y="40125"/>
            <a:ext cx="1387075" cy="4420475"/>
          </a:xfrm>
          <a:prstGeom prst="rect">
            <a:avLst/>
          </a:prstGeom>
          <a:noFill/>
          <a:ln>
            <a:noFill/>
          </a:ln>
        </p:spPr>
      </p:pic>
      <p:pic>
        <p:nvPicPr>
          <p:cNvPr id="173" name="Google Shape;173;p21"/>
          <p:cNvPicPr preferRelativeResize="0"/>
          <p:nvPr/>
        </p:nvPicPr>
        <p:blipFill rotWithShape="1">
          <a:blip r:embed="rId5">
            <a:alphaModFix/>
          </a:blip>
          <a:srcRect b="8792" l="0" r="0" t="0"/>
          <a:stretch/>
        </p:blipFill>
        <p:spPr>
          <a:xfrm>
            <a:off x="5065625" y="2242550"/>
            <a:ext cx="2691300" cy="1856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77" name="Shape 177"/>
        <p:cNvGrpSpPr/>
        <p:nvPr/>
      </p:nvGrpSpPr>
      <p:grpSpPr>
        <a:xfrm>
          <a:off x="0" y="0"/>
          <a:ext cx="0" cy="0"/>
          <a:chOff x="0" y="0"/>
          <a:chExt cx="0" cy="0"/>
        </a:xfrm>
      </p:grpSpPr>
      <p:sp>
        <p:nvSpPr>
          <p:cNvPr id="178" name="Google Shape;178;p22"/>
          <p:cNvSpPr txBox="1"/>
          <p:nvPr>
            <p:ph type="title"/>
          </p:nvPr>
        </p:nvSpPr>
        <p:spPr>
          <a:xfrm>
            <a:off x="311700" y="327100"/>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solidFill>
                  <a:srgbClr val="343F00"/>
                </a:solidFill>
                <a:latin typeface="Platypi"/>
                <a:ea typeface="Platypi"/>
                <a:cs typeface="Platypi"/>
                <a:sym typeface="Platypi"/>
              </a:rPr>
              <a:t>ML</a:t>
            </a:r>
            <a:r>
              <a:rPr lang="en"/>
              <a:t> </a:t>
            </a:r>
            <a:r>
              <a:rPr lang="en">
                <a:solidFill>
                  <a:srgbClr val="343F00"/>
                </a:solidFill>
                <a:latin typeface="Platypi"/>
                <a:ea typeface="Platypi"/>
                <a:cs typeface="Platypi"/>
                <a:sym typeface="Platypi"/>
              </a:rPr>
              <a:t>Pipeline - Electra</a:t>
            </a:r>
            <a:endParaRPr/>
          </a:p>
        </p:txBody>
      </p:sp>
      <p:sp>
        <p:nvSpPr>
          <p:cNvPr id="179" name="Google Shape;179;p22"/>
          <p:cNvSpPr/>
          <p:nvPr/>
        </p:nvSpPr>
        <p:spPr>
          <a:xfrm>
            <a:off x="1874348" y="2133975"/>
            <a:ext cx="1549800" cy="1812900"/>
          </a:xfrm>
          <a:prstGeom prst="roundRect">
            <a:avLst>
              <a:gd fmla="val 16667" name="adj"/>
            </a:avLst>
          </a:prstGeom>
          <a:solidFill>
            <a:schemeClr val="lt2"/>
          </a:solidFill>
          <a:ln cap="flat" cmpd="sng" w="8375">
            <a:solidFill>
              <a:schemeClr val="dk2"/>
            </a:solidFill>
            <a:prstDash val="solid"/>
            <a:round/>
            <a:headEnd len="sm" w="sm" type="none"/>
            <a:tailEnd len="sm" w="sm" type="none"/>
          </a:ln>
        </p:spPr>
        <p:txBody>
          <a:bodyPr anchorCtr="0" anchor="ctr" bIns="80425" lIns="80425" spcFirstLastPara="1" rIns="80425" wrap="square" tIns="80425">
            <a:noAutofit/>
          </a:bodyPr>
          <a:lstStyle/>
          <a:p>
            <a:pPr indent="0" lvl="0" marL="0" rtl="0" algn="ctr">
              <a:spcBef>
                <a:spcPts val="0"/>
              </a:spcBef>
              <a:spcAft>
                <a:spcPts val="0"/>
              </a:spcAft>
              <a:buNone/>
            </a:pPr>
            <a:r>
              <a:t/>
            </a:r>
            <a:endParaRPr sz="1232"/>
          </a:p>
        </p:txBody>
      </p:sp>
      <p:sp>
        <p:nvSpPr>
          <p:cNvPr id="180" name="Google Shape;180;p22"/>
          <p:cNvSpPr/>
          <p:nvPr/>
        </p:nvSpPr>
        <p:spPr>
          <a:xfrm>
            <a:off x="5331146" y="1214775"/>
            <a:ext cx="1703700" cy="3651300"/>
          </a:xfrm>
          <a:prstGeom prst="roundRect">
            <a:avLst>
              <a:gd fmla="val 16667" name="adj"/>
            </a:avLst>
          </a:prstGeom>
          <a:solidFill>
            <a:schemeClr val="lt2"/>
          </a:solidFill>
          <a:ln cap="flat" cmpd="sng" w="8375">
            <a:solidFill>
              <a:schemeClr val="dk2"/>
            </a:solidFill>
            <a:prstDash val="solid"/>
            <a:round/>
            <a:headEnd len="sm" w="sm" type="none"/>
            <a:tailEnd len="sm" w="sm" type="none"/>
          </a:ln>
        </p:spPr>
        <p:txBody>
          <a:bodyPr anchorCtr="0" anchor="ctr" bIns="80425" lIns="80425" spcFirstLastPara="1" rIns="80425" wrap="square" tIns="80425">
            <a:noAutofit/>
          </a:bodyPr>
          <a:lstStyle/>
          <a:p>
            <a:pPr indent="0" lvl="0" marL="0" rtl="0" algn="ctr">
              <a:spcBef>
                <a:spcPts val="0"/>
              </a:spcBef>
              <a:spcAft>
                <a:spcPts val="0"/>
              </a:spcAft>
              <a:buNone/>
            </a:pPr>
            <a:r>
              <a:t/>
            </a:r>
            <a:endParaRPr sz="1232"/>
          </a:p>
        </p:txBody>
      </p:sp>
      <p:sp>
        <p:nvSpPr>
          <p:cNvPr id="181" name="Google Shape;181;p22"/>
          <p:cNvSpPr/>
          <p:nvPr/>
        </p:nvSpPr>
        <p:spPr>
          <a:xfrm>
            <a:off x="3602745" y="1375675"/>
            <a:ext cx="1549800" cy="3293400"/>
          </a:xfrm>
          <a:prstGeom prst="roundRect">
            <a:avLst>
              <a:gd fmla="val 16667" name="adj"/>
            </a:avLst>
          </a:prstGeom>
          <a:solidFill>
            <a:schemeClr val="lt2"/>
          </a:solidFill>
          <a:ln cap="flat" cmpd="sng" w="8375">
            <a:solidFill>
              <a:schemeClr val="dk2"/>
            </a:solidFill>
            <a:prstDash val="solid"/>
            <a:round/>
            <a:headEnd len="sm" w="sm" type="none"/>
            <a:tailEnd len="sm" w="sm" type="none"/>
          </a:ln>
        </p:spPr>
        <p:txBody>
          <a:bodyPr anchorCtr="0" anchor="ctr" bIns="80425" lIns="80425" spcFirstLastPara="1" rIns="80425" wrap="square" tIns="80425">
            <a:noAutofit/>
          </a:bodyPr>
          <a:lstStyle/>
          <a:p>
            <a:pPr indent="0" lvl="0" marL="0" rtl="0" algn="ctr">
              <a:spcBef>
                <a:spcPts val="0"/>
              </a:spcBef>
              <a:spcAft>
                <a:spcPts val="0"/>
              </a:spcAft>
              <a:buNone/>
            </a:pPr>
            <a:r>
              <a:t/>
            </a:r>
            <a:endParaRPr sz="1232"/>
          </a:p>
        </p:txBody>
      </p:sp>
      <p:sp>
        <p:nvSpPr>
          <p:cNvPr id="182" name="Google Shape;182;p22"/>
          <p:cNvSpPr txBox="1"/>
          <p:nvPr/>
        </p:nvSpPr>
        <p:spPr>
          <a:xfrm>
            <a:off x="68996" y="1570525"/>
            <a:ext cx="1703700" cy="9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Platypi Light"/>
                <a:ea typeface="Platypi Light"/>
                <a:cs typeface="Platypi Light"/>
                <a:sym typeface="Platypi Light"/>
              </a:rPr>
              <a:t>KnoxStage:</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DesignID</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GroupID</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EvalName</a:t>
            </a:r>
            <a:endParaRPr>
              <a:solidFill>
                <a:schemeClr val="dk2"/>
              </a:solidFill>
              <a:latin typeface="Platypi Light"/>
              <a:ea typeface="Platypi Light"/>
              <a:cs typeface="Platypi Light"/>
              <a:sym typeface="Platypi Light"/>
            </a:endParaRPr>
          </a:p>
        </p:txBody>
      </p:sp>
      <p:sp>
        <p:nvSpPr>
          <p:cNvPr id="183" name="Google Shape;183;p22"/>
          <p:cNvSpPr txBox="1"/>
          <p:nvPr/>
        </p:nvSpPr>
        <p:spPr>
          <a:xfrm>
            <a:off x="1874346" y="2294700"/>
            <a:ext cx="1549800" cy="44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Platypi"/>
                <a:ea typeface="Platypi"/>
                <a:cs typeface="Platypi"/>
                <a:sym typeface="Platypi"/>
              </a:rPr>
              <a:t>Fast API</a:t>
            </a:r>
            <a:endParaRPr b="1" sz="1600">
              <a:solidFill>
                <a:schemeClr val="dk2"/>
              </a:solidFill>
              <a:latin typeface="Platypi"/>
              <a:ea typeface="Platypi"/>
              <a:cs typeface="Platypi"/>
              <a:sym typeface="Platypi"/>
            </a:endParaRPr>
          </a:p>
        </p:txBody>
      </p:sp>
      <p:sp>
        <p:nvSpPr>
          <p:cNvPr id="184" name="Google Shape;184;p22"/>
          <p:cNvSpPr txBox="1"/>
          <p:nvPr/>
        </p:nvSpPr>
        <p:spPr>
          <a:xfrm>
            <a:off x="1874348" y="2778600"/>
            <a:ext cx="1549800" cy="9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Receives</a:t>
            </a:r>
            <a:r>
              <a:rPr lang="en">
                <a:solidFill>
                  <a:schemeClr val="dk2"/>
                </a:solidFill>
                <a:latin typeface="Platypi Light"/>
                <a:ea typeface="Platypi Light"/>
                <a:cs typeface="Platypi Light"/>
                <a:sym typeface="Platypi Light"/>
              </a:rPr>
              <a:t> and Validates ML request</a:t>
            </a:r>
            <a:endParaRPr>
              <a:solidFill>
                <a:schemeClr val="dk2"/>
              </a:solidFill>
              <a:latin typeface="Platypi Light"/>
              <a:ea typeface="Platypi Light"/>
              <a:cs typeface="Platypi Light"/>
              <a:sym typeface="Platypi Light"/>
            </a:endParaRPr>
          </a:p>
        </p:txBody>
      </p:sp>
      <p:sp>
        <p:nvSpPr>
          <p:cNvPr id="185" name="Google Shape;185;p22"/>
          <p:cNvSpPr txBox="1"/>
          <p:nvPr/>
        </p:nvSpPr>
        <p:spPr>
          <a:xfrm>
            <a:off x="3602750" y="1450575"/>
            <a:ext cx="1549800" cy="68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Platypi"/>
                <a:ea typeface="Platypi"/>
                <a:cs typeface="Platypi"/>
                <a:sym typeface="Platypi"/>
              </a:rPr>
              <a:t>Knox Exctraction</a:t>
            </a:r>
            <a:endParaRPr b="1" sz="1600">
              <a:solidFill>
                <a:schemeClr val="dk2"/>
              </a:solidFill>
              <a:latin typeface="Platypi"/>
              <a:ea typeface="Platypi"/>
              <a:cs typeface="Platypi"/>
              <a:sym typeface="Platypi"/>
            </a:endParaRPr>
          </a:p>
        </p:txBody>
      </p:sp>
      <p:sp>
        <p:nvSpPr>
          <p:cNvPr id="186" name="Google Shape;186;p22"/>
          <p:cNvSpPr txBox="1"/>
          <p:nvPr/>
        </p:nvSpPr>
        <p:spPr>
          <a:xfrm>
            <a:off x="3602745" y="2073600"/>
            <a:ext cx="1549800" cy="88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Connects to Knox API</a:t>
            </a:r>
            <a:endParaRPr>
              <a:solidFill>
                <a:schemeClr val="dk2"/>
              </a:solidFill>
              <a:latin typeface="Platypi Light"/>
              <a:ea typeface="Platypi Light"/>
              <a:cs typeface="Platypi Light"/>
              <a:sym typeface="Platypi Light"/>
            </a:endParaRPr>
          </a:p>
        </p:txBody>
      </p:sp>
      <p:sp>
        <p:nvSpPr>
          <p:cNvPr id="187" name="Google Shape;187;p22"/>
          <p:cNvSpPr txBox="1"/>
          <p:nvPr/>
        </p:nvSpPr>
        <p:spPr>
          <a:xfrm>
            <a:off x="3602745" y="2832900"/>
            <a:ext cx="1549800" cy="88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Retrieves designtorule_df</a:t>
            </a:r>
            <a:endParaRPr>
              <a:solidFill>
                <a:schemeClr val="dk2"/>
              </a:solidFill>
              <a:latin typeface="Platypi Light"/>
              <a:ea typeface="Platypi Light"/>
              <a:cs typeface="Platypi Light"/>
              <a:sym typeface="Platypi Light"/>
            </a:endParaRPr>
          </a:p>
        </p:txBody>
      </p:sp>
      <p:sp>
        <p:nvSpPr>
          <p:cNvPr id="188" name="Google Shape;188;p22"/>
          <p:cNvSpPr txBox="1"/>
          <p:nvPr/>
        </p:nvSpPr>
        <p:spPr>
          <a:xfrm>
            <a:off x="3602745" y="3720600"/>
            <a:ext cx="1549800" cy="88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Initiates ML Pipeline</a:t>
            </a:r>
            <a:endParaRPr>
              <a:solidFill>
                <a:schemeClr val="dk2"/>
              </a:solidFill>
              <a:latin typeface="Platypi Light"/>
              <a:ea typeface="Platypi Light"/>
              <a:cs typeface="Platypi Light"/>
              <a:sym typeface="Platypi Light"/>
            </a:endParaRPr>
          </a:p>
        </p:txBody>
      </p:sp>
      <p:sp>
        <p:nvSpPr>
          <p:cNvPr id="189" name="Google Shape;189;p22"/>
          <p:cNvSpPr txBox="1"/>
          <p:nvPr/>
        </p:nvSpPr>
        <p:spPr>
          <a:xfrm>
            <a:off x="5550581" y="1375675"/>
            <a:ext cx="1337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Platypi"/>
                <a:ea typeface="Platypi"/>
                <a:cs typeface="Platypi"/>
                <a:sym typeface="Platypi"/>
              </a:rPr>
              <a:t>ML Pipeline</a:t>
            </a:r>
            <a:endParaRPr b="1" sz="1600">
              <a:solidFill>
                <a:schemeClr val="dk2"/>
              </a:solidFill>
              <a:latin typeface="Platypi"/>
              <a:ea typeface="Platypi"/>
              <a:cs typeface="Platypi"/>
              <a:sym typeface="Platypi"/>
            </a:endParaRPr>
          </a:p>
        </p:txBody>
      </p:sp>
      <p:sp>
        <p:nvSpPr>
          <p:cNvPr id="190" name="Google Shape;190;p22"/>
          <p:cNvSpPr txBox="1"/>
          <p:nvPr/>
        </p:nvSpPr>
        <p:spPr>
          <a:xfrm>
            <a:off x="5331146" y="1997275"/>
            <a:ext cx="1703700" cy="68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Formats dataframe for ML</a:t>
            </a:r>
            <a:endParaRPr>
              <a:solidFill>
                <a:schemeClr val="dk2"/>
              </a:solidFill>
              <a:latin typeface="Platypi Light"/>
              <a:ea typeface="Platypi Light"/>
              <a:cs typeface="Platypi Light"/>
              <a:sym typeface="Platypi Light"/>
            </a:endParaRPr>
          </a:p>
        </p:txBody>
      </p:sp>
      <p:sp>
        <p:nvSpPr>
          <p:cNvPr id="191" name="Google Shape;191;p22"/>
          <p:cNvSpPr txBox="1"/>
          <p:nvPr/>
        </p:nvSpPr>
        <p:spPr>
          <a:xfrm>
            <a:off x="5331146" y="2680675"/>
            <a:ext cx="1703700" cy="68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Splits test/train data</a:t>
            </a:r>
            <a:endParaRPr>
              <a:solidFill>
                <a:schemeClr val="dk2"/>
              </a:solidFill>
              <a:latin typeface="Platypi Light"/>
              <a:ea typeface="Platypi Light"/>
              <a:cs typeface="Platypi Light"/>
              <a:sym typeface="Platypi Light"/>
            </a:endParaRPr>
          </a:p>
        </p:txBody>
      </p:sp>
      <p:sp>
        <p:nvSpPr>
          <p:cNvPr id="192" name="Google Shape;192;p22"/>
          <p:cNvSpPr txBox="1"/>
          <p:nvPr/>
        </p:nvSpPr>
        <p:spPr>
          <a:xfrm>
            <a:off x="5331146" y="3348750"/>
            <a:ext cx="1703700" cy="68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Calls and runs ML model scripts</a:t>
            </a:r>
            <a:endParaRPr>
              <a:solidFill>
                <a:schemeClr val="dk2"/>
              </a:solidFill>
              <a:latin typeface="Platypi Light"/>
              <a:ea typeface="Platypi Light"/>
              <a:cs typeface="Platypi Light"/>
              <a:sym typeface="Platypi Light"/>
            </a:endParaRPr>
          </a:p>
        </p:txBody>
      </p:sp>
      <p:sp>
        <p:nvSpPr>
          <p:cNvPr id="193" name="Google Shape;193;p22"/>
          <p:cNvSpPr txBox="1"/>
          <p:nvPr/>
        </p:nvSpPr>
        <p:spPr>
          <a:xfrm>
            <a:off x="5331146" y="4032150"/>
            <a:ext cx="1703700" cy="68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Returns model summary</a:t>
            </a:r>
            <a:endParaRPr>
              <a:solidFill>
                <a:schemeClr val="dk2"/>
              </a:solidFill>
              <a:latin typeface="Platypi Light"/>
              <a:ea typeface="Platypi Light"/>
              <a:cs typeface="Platypi Light"/>
              <a:sym typeface="Platypi Light"/>
            </a:endParaRPr>
          </a:p>
        </p:txBody>
      </p:sp>
      <p:sp>
        <p:nvSpPr>
          <p:cNvPr id="194" name="Google Shape;194;p22"/>
          <p:cNvSpPr txBox="1"/>
          <p:nvPr/>
        </p:nvSpPr>
        <p:spPr>
          <a:xfrm>
            <a:off x="68996" y="3613350"/>
            <a:ext cx="1703700" cy="11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Platypi Light"/>
                <a:ea typeface="Platypi Light"/>
                <a:cs typeface="Platypi Light"/>
                <a:sym typeface="Platypi Light"/>
              </a:rPr>
              <a:t>User:</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Models</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Train split</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Top N Rules</a:t>
            </a:r>
            <a:endParaRPr>
              <a:solidFill>
                <a:schemeClr val="dk2"/>
              </a:solidFill>
              <a:latin typeface="Platypi Light"/>
              <a:ea typeface="Platypi Light"/>
              <a:cs typeface="Platypi Light"/>
              <a:sym typeface="Platypi Light"/>
            </a:endParaRPr>
          </a:p>
        </p:txBody>
      </p:sp>
      <p:sp>
        <p:nvSpPr>
          <p:cNvPr id="195" name="Google Shape;195;p22"/>
          <p:cNvSpPr/>
          <p:nvPr/>
        </p:nvSpPr>
        <p:spPr>
          <a:xfrm>
            <a:off x="7213445" y="1375675"/>
            <a:ext cx="1549800" cy="3293400"/>
          </a:xfrm>
          <a:prstGeom prst="roundRect">
            <a:avLst>
              <a:gd fmla="val 16667" name="adj"/>
            </a:avLst>
          </a:prstGeom>
          <a:solidFill>
            <a:schemeClr val="lt2"/>
          </a:solidFill>
          <a:ln cap="flat" cmpd="sng" w="8375">
            <a:solidFill>
              <a:schemeClr val="dk2"/>
            </a:solidFill>
            <a:prstDash val="solid"/>
            <a:round/>
            <a:headEnd len="sm" w="sm" type="none"/>
            <a:tailEnd len="sm" w="sm" type="none"/>
          </a:ln>
        </p:spPr>
        <p:txBody>
          <a:bodyPr anchorCtr="0" anchor="ctr" bIns="80425" lIns="80425" spcFirstLastPara="1" rIns="80425" wrap="square" tIns="80425">
            <a:noAutofit/>
          </a:bodyPr>
          <a:lstStyle/>
          <a:p>
            <a:pPr indent="0" lvl="0" marL="0" rtl="0" algn="ctr">
              <a:spcBef>
                <a:spcPts val="0"/>
              </a:spcBef>
              <a:spcAft>
                <a:spcPts val="0"/>
              </a:spcAft>
              <a:buNone/>
            </a:pPr>
            <a:r>
              <a:t/>
            </a:r>
            <a:endParaRPr sz="1232"/>
          </a:p>
        </p:txBody>
      </p:sp>
      <p:sp>
        <p:nvSpPr>
          <p:cNvPr id="196" name="Google Shape;196;p22"/>
          <p:cNvSpPr txBox="1"/>
          <p:nvPr/>
        </p:nvSpPr>
        <p:spPr>
          <a:xfrm>
            <a:off x="7201000" y="1375675"/>
            <a:ext cx="1549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Platypi"/>
                <a:ea typeface="Platypi"/>
                <a:cs typeface="Platypi"/>
                <a:sym typeface="Platypi"/>
              </a:rPr>
              <a:t>GUI Rendering</a:t>
            </a:r>
            <a:endParaRPr b="1" sz="1600">
              <a:solidFill>
                <a:schemeClr val="dk2"/>
              </a:solidFill>
              <a:latin typeface="Platypi"/>
              <a:ea typeface="Platypi"/>
              <a:cs typeface="Platypi"/>
              <a:sym typeface="Platypi"/>
            </a:endParaRPr>
          </a:p>
        </p:txBody>
      </p:sp>
      <p:sp>
        <p:nvSpPr>
          <p:cNvPr id="197" name="Google Shape;197;p22"/>
          <p:cNvSpPr txBox="1"/>
          <p:nvPr/>
        </p:nvSpPr>
        <p:spPr>
          <a:xfrm>
            <a:off x="7258150" y="2175750"/>
            <a:ext cx="1460400" cy="68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Receives Response JSON</a:t>
            </a:r>
            <a:endParaRPr>
              <a:solidFill>
                <a:schemeClr val="dk2"/>
              </a:solidFill>
              <a:latin typeface="Platypi Light"/>
              <a:ea typeface="Platypi Light"/>
              <a:cs typeface="Platypi Light"/>
              <a:sym typeface="Platypi Light"/>
            </a:endParaRPr>
          </a:p>
        </p:txBody>
      </p:sp>
      <p:sp>
        <p:nvSpPr>
          <p:cNvPr id="198" name="Google Shape;198;p22"/>
          <p:cNvSpPr txBox="1"/>
          <p:nvPr/>
        </p:nvSpPr>
        <p:spPr>
          <a:xfrm>
            <a:off x="7213450" y="2986457"/>
            <a:ext cx="1549800" cy="142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latypi Light"/>
                <a:ea typeface="Platypi Light"/>
                <a:cs typeface="Platypi Light"/>
                <a:sym typeface="Platypi Light"/>
              </a:rPr>
              <a:t>Displays</a:t>
            </a:r>
            <a:r>
              <a:rPr lang="en">
                <a:solidFill>
                  <a:schemeClr val="dk2"/>
                </a:solidFill>
                <a:latin typeface="Platypi Light"/>
                <a:ea typeface="Platypi Light"/>
                <a:cs typeface="Platypi Light"/>
                <a:sym typeface="Platypi Light"/>
              </a:rPr>
              <a:t> in UI:</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Model name</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Accuracy</a:t>
            </a:r>
            <a:endParaRPr>
              <a:solidFill>
                <a:schemeClr val="dk2"/>
              </a:solidFill>
              <a:latin typeface="Platypi Light"/>
              <a:ea typeface="Platypi Light"/>
              <a:cs typeface="Platypi Light"/>
              <a:sym typeface="Platypi Light"/>
            </a:endParaRPr>
          </a:p>
          <a:p>
            <a:pPr indent="-317500" lvl="0" marL="457200" rtl="0" algn="l">
              <a:spcBef>
                <a:spcPts val="0"/>
              </a:spcBef>
              <a:spcAft>
                <a:spcPts val="0"/>
              </a:spcAft>
              <a:buClr>
                <a:schemeClr val="dk2"/>
              </a:buClr>
              <a:buSzPts val="1400"/>
              <a:buFont typeface="Platypi Light"/>
              <a:buChar char="●"/>
            </a:pPr>
            <a:r>
              <a:rPr lang="en">
                <a:solidFill>
                  <a:schemeClr val="dk2"/>
                </a:solidFill>
                <a:latin typeface="Platypi Light"/>
                <a:ea typeface="Platypi Light"/>
                <a:cs typeface="Platypi Light"/>
                <a:sym typeface="Platypi Light"/>
              </a:rPr>
              <a:t>Top Rules</a:t>
            </a:r>
            <a:endParaRPr>
              <a:solidFill>
                <a:schemeClr val="dk2"/>
              </a:solidFill>
              <a:latin typeface="Platypi Light"/>
              <a:ea typeface="Platypi Light"/>
              <a:cs typeface="Platypi Light"/>
              <a:sym typeface="Platypi Light"/>
            </a:endParaRPr>
          </a:p>
        </p:txBody>
      </p:sp>
      <p:cxnSp>
        <p:nvCxnSpPr>
          <p:cNvPr id="199" name="Google Shape;199;p22"/>
          <p:cNvCxnSpPr>
            <a:stCxn id="194" idx="0"/>
            <a:endCxn id="184" idx="1"/>
          </p:cNvCxnSpPr>
          <p:nvPr/>
        </p:nvCxnSpPr>
        <p:spPr>
          <a:xfrm rot="-5400000">
            <a:off x="1229246" y="2968350"/>
            <a:ext cx="336600" cy="953400"/>
          </a:xfrm>
          <a:prstGeom prst="curvedConnector2">
            <a:avLst/>
          </a:prstGeom>
          <a:noFill/>
          <a:ln cap="flat" cmpd="sng" w="28575">
            <a:solidFill>
              <a:schemeClr val="dk2"/>
            </a:solidFill>
            <a:prstDash val="solid"/>
            <a:round/>
            <a:headEnd len="med" w="med" type="none"/>
            <a:tailEnd len="med" w="med" type="triangle"/>
          </a:ln>
        </p:spPr>
      </p:cxnSp>
      <p:cxnSp>
        <p:nvCxnSpPr>
          <p:cNvPr id="200" name="Google Shape;200;p22"/>
          <p:cNvCxnSpPr>
            <a:stCxn id="182" idx="2"/>
          </p:cNvCxnSpPr>
          <p:nvPr/>
        </p:nvCxnSpPr>
        <p:spPr>
          <a:xfrm flipH="1" rot="-5400000">
            <a:off x="1232996" y="2254675"/>
            <a:ext cx="336000" cy="960300"/>
          </a:xfrm>
          <a:prstGeom prst="curvedConnector2">
            <a:avLst/>
          </a:prstGeom>
          <a:noFill/>
          <a:ln cap="flat" cmpd="sng" w="28575">
            <a:solidFill>
              <a:schemeClr val="dk2"/>
            </a:solidFill>
            <a:prstDash val="solid"/>
            <a:round/>
            <a:headEnd len="med" w="med" type="none"/>
            <a:tailEnd len="med" w="med" type="triangle"/>
          </a:ln>
        </p:spPr>
      </p:cxnSp>
      <p:cxnSp>
        <p:nvCxnSpPr>
          <p:cNvPr id="201" name="Google Shape;201;p22"/>
          <p:cNvCxnSpPr>
            <a:stCxn id="179" idx="0"/>
            <a:endCxn id="185" idx="1"/>
          </p:cNvCxnSpPr>
          <p:nvPr/>
        </p:nvCxnSpPr>
        <p:spPr>
          <a:xfrm rot="-5400000">
            <a:off x="2955098" y="1486425"/>
            <a:ext cx="341700" cy="953400"/>
          </a:xfrm>
          <a:prstGeom prst="curvedConnector2">
            <a:avLst/>
          </a:prstGeom>
          <a:noFill/>
          <a:ln cap="flat" cmpd="sng" w="28575">
            <a:solidFill>
              <a:schemeClr val="dk2"/>
            </a:solidFill>
            <a:prstDash val="solid"/>
            <a:round/>
            <a:headEnd len="med" w="med" type="none"/>
            <a:tailEnd len="med" w="med" type="triangle"/>
          </a:ln>
        </p:spPr>
      </p:cxnSp>
      <p:cxnSp>
        <p:nvCxnSpPr>
          <p:cNvPr id="202" name="Google Shape;202;p22"/>
          <p:cNvCxnSpPr>
            <a:stCxn id="181" idx="0"/>
            <a:endCxn id="180" idx="0"/>
          </p:cNvCxnSpPr>
          <p:nvPr/>
        </p:nvCxnSpPr>
        <p:spPr>
          <a:xfrm rot="-5400000">
            <a:off x="5199945" y="392575"/>
            <a:ext cx="160800" cy="1805400"/>
          </a:xfrm>
          <a:prstGeom prst="curvedConnector3">
            <a:avLst>
              <a:gd fmla="val 248150" name="adj1"/>
            </a:avLst>
          </a:prstGeom>
          <a:noFill/>
          <a:ln cap="flat" cmpd="sng" w="28575">
            <a:solidFill>
              <a:schemeClr val="dk2"/>
            </a:solidFill>
            <a:prstDash val="solid"/>
            <a:round/>
            <a:headEnd len="med" w="med" type="none"/>
            <a:tailEnd len="med" w="med" type="triangle"/>
          </a:ln>
        </p:spPr>
      </p:cxnSp>
      <p:cxnSp>
        <p:nvCxnSpPr>
          <p:cNvPr id="203" name="Google Shape;203;p22"/>
          <p:cNvCxnSpPr>
            <a:stCxn id="180" idx="0"/>
            <a:endCxn id="196" idx="0"/>
          </p:cNvCxnSpPr>
          <p:nvPr/>
        </p:nvCxnSpPr>
        <p:spPr>
          <a:xfrm flipH="1" rot="-5400000">
            <a:off x="6998996" y="398775"/>
            <a:ext cx="160800" cy="1792800"/>
          </a:xfrm>
          <a:prstGeom prst="curvedConnector3">
            <a:avLst>
              <a:gd fmla="val -148088" name="adj1"/>
            </a:avLst>
          </a:prstGeom>
          <a:noFill/>
          <a:ln cap="flat" cmpd="sng" w="28575">
            <a:solidFill>
              <a:schemeClr val="dk2"/>
            </a:solidFill>
            <a:prstDash val="solid"/>
            <a:round/>
            <a:headEnd len="med" w="med" type="none"/>
            <a:tailEnd len="med" w="med" type="triangle"/>
          </a:ln>
        </p:spPr>
      </p:cxnSp>
      <p:sp>
        <p:nvSpPr>
          <p:cNvPr id="204" name="Google Shape;204;p22"/>
          <p:cNvSpPr txBox="1"/>
          <p:nvPr/>
        </p:nvSpPr>
        <p:spPr>
          <a:xfrm>
            <a:off x="145946" y="1125025"/>
            <a:ext cx="1549800" cy="44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Platypi"/>
                <a:ea typeface="Platypi"/>
                <a:cs typeface="Platypi"/>
                <a:sym typeface="Platypi"/>
              </a:rPr>
              <a:t>Inputs</a:t>
            </a:r>
            <a:endParaRPr b="1" sz="1600">
              <a:solidFill>
                <a:schemeClr val="dk2"/>
              </a:solidFill>
              <a:latin typeface="Platypi"/>
              <a:ea typeface="Platypi"/>
              <a:cs typeface="Platypi"/>
              <a:sym typeface="Platyp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08" name="Shape 208"/>
        <p:cNvGrpSpPr/>
        <p:nvPr/>
      </p:nvGrpSpPr>
      <p:grpSpPr>
        <a:xfrm>
          <a:off x="0" y="0"/>
          <a:ext cx="0" cy="0"/>
          <a:chOff x="0" y="0"/>
          <a:chExt cx="0" cy="0"/>
        </a:xfrm>
      </p:grpSpPr>
      <p:sp>
        <p:nvSpPr>
          <p:cNvPr id="209" name="Google Shape;20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typi"/>
                <a:ea typeface="Platypi"/>
                <a:cs typeface="Platypi"/>
                <a:sym typeface="Platypi"/>
              </a:rPr>
              <a:t>GUI - Trieu</a:t>
            </a:r>
            <a:endParaRPr>
              <a:latin typeface="Platypi"/>
              <a:ea typeface="Platypi"/>
              <a:cs typeface="Platypi"/>
              <a:sym typeface="Platypi"/>
            </a:endParaRPr>
          </a:p>
        </p:txBody>
      </p:sp>
      <p:pic>
        <p:nvPicPr>
          <p:cNvPr id="210" name="Google Shape;210;p23"/>
          <p:cNvPicPr preferRelativeResize="0"/>
          <p:nvPr/>
        </p:nvPicPr>
        <p:blipFill rotWithShape="1">
          <a:blip r:embed="rId3">
            <a:alphaModFix/>
          </a:blip>
          <a:srcRect b="0" l="0" r="0" t="0"/>
          <a:stretch/>
        </p:blipFill>
        <p:spPr>
          <a:xfrm>
            <a:off x="4601188" y="967837"/>
            <a:ext cx="4355368" cy="2000925"/>
          </a:xfrm>
          <a:prstGeom prst="rect">
            <a:avLst/>
          </a:prstGeom>
          <a:noFill/>
          <a:ln>
            <a:noFill/>
          </a:ln>
        </p:spPr>
      </p:pic>
      <p:pic>
        <p:nvPicPr>
          <p:cNvPr id="211" name="Google Shape;211;p23"/>
          <p:cNvPicPr preferRelativeResize="0"/>
          <p:nvPr/>
        </p:nvPicPr>
        <p:blipFill>
          <a:blip r:embed="rId4">
            <a:alphaModFix/>
          </a:blip>
          <a:stretch>
            <a:fillRect/>
          </a:stretch>
        </p:blipFill>
        <p:spPr>
          <a:xfrm>
            <a:off x="189550" y="2968761"/>
            <a:ext cx="4409535" cy="2000924"/>
          </a:xfrm>
          <a:prstGeom prst="rect">
            <a:avLst/>
          </a:prstGeom>
          <a:noFill/>
          <a:ln>
            <a:noFill/>
          </a:ln>
        </p:spPr>
      </p:pic>
      <p:pic>
        <p:nvPicPr>
          <p:cNvPr id="212" name="Google Shape;212;p23"/>
          <p:cNvPicPr preferRelativeResize="0"/>
          <p:nvPr/>
        </p:nvPicPr>
        <p:blipFill>
          <a:blip r:embed="rId5">
            <a:alphaModFix/>
          </a:blip>
          <a:stretch>
            <a:fillRect/>
          </a:stretch>
        </p:blipFill>
        <p:spPr>
          <a:xfrm>
            <a:off x="4590588" y="2968744"/>
            <a:ext cx="4376565" cy="2000924"/>
          </a:xfrm>
          <a:prstGeom prst="rect">
            <a:avLst/>
          </a:prstGeom>
          <a:noFill/>
          <a:ln>
            <a:noFill/>
          </a:ln>
        </p:spPr>
      </p:pic>
      <p:pic>
        <p:nvPicPr>
          <p:cNvPr id="213" name="Google Shape;213;p23" title="Screenshot 2026-04-22 at 11.38.49 AM.png"/>
          <p:cNvPicPr preferRelativeResize="0"/>
          <p:nvPr/>
        </p:nvPicPr>
        <p:blipFill>
          <a:blip r:embed="rId6">
            <a:alphaModFix/>
          </a:blip>
          <a:stretch>
            <a:fillRect/>
          </a:stretch>
        </p:blipFill>
        <p:spPr>
          <a:xfrm>
            <a:off x="191675" y="967800"/>
            <a:ext cx="4409523" cy="20009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17" name="Shape 217"/>
        <p:cNvGrpSpPr/>
        <p:nvPr/>
      </p:nvGrpSpPr>
      <p:grpSpPr>
        <a:xfrm>
          <a:off x="0" y="0"/>
          <a:ext cx="0" cy="0"/>
          <a:chOff x="0" y="0"/>
          <a:chExt cx="0" cy="0"/>
        </a:xfrm>
      </p:grpSpPr>
      <p:sp>
        <p:nvSpPr>
          <p:cNvPr id="218" name="Google Shape;2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typi"/>
                <a:ea typeface="Platypi"/>
                <a:cs typeface="Platypi"/>
                <a:sym typeface="Platypi"/>
              </a:rPr>
              <a:t>Example</a:t>
            </a:r>
            <a:r>
              <a:rPr lang="en">
                <a:latin typeface="Platypi"/>
                <a:ea typeface="Platypi"/>
                <a:cs typeface="Platypi"/>
                <a:sym typeface="Platypi"/>
              </a:rPr>
              <a:t> Interface: Video - Trieu</a:t>
            </a:r>
            <a:endParaRPr>
              <a:latin typeface="Platypi"/>
              <a:ea typeface="Platypi"/>
              <a:cs typeface="Platypi"/>
              <a:sym typeface="Platypi"/>
            </a:endParaRPr>
          </a:p>
        </p:txBody>
      </p:sp>
      <p:sp>
        <p:nvSpPr>
          <p:cNvPr id="219" name="Google Shape;219;p24"/>
          <p:cNvSpPr txBox="1"/>
          <p:nvPr>
            <p:ph idx="1" type="body"/>
          </p:nvPr>
        </p:nvSpPr>
        <p:spPr>
          <a:xfrm>
            <a:off x="261475" y="1096425"/>
            <a:ext cx="47253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000" u="sng">
                <a:solidFill>
                  <a:schemeClr val="hlink"/>
                </a:solidFill>
                <a:latin typeface="Platypi"/>
                <a:ea typeface="Platypi"/>
                <a:cs typeface="Platypi"/>
                <a:sym typeface="Platypi"/>
                <a:hlinkClick r:id="rId3"/>
              </a:rPr>
              <a:t>Click for User Interface Demo Video</a:t>
            </a:r>
            <a:endParaRPr sz="2700">
              <a:solidFill>
                <a:srgbClr val="274E13"/>
              </a:solidFill>
              <a:latin typeface="Platypi"/>
              <a:ea typeface="Platypi"/>
              <a:cs typeface="Platypi"/>
              <a:sym typeface="Platypi"/>
            </a:endParaRPr>
          </a:p>
        </p:txBody>
      </p:sp>
      <p:pic>
        <p:nvPicPr>
          <p:cNvPr id="220" name="Google Shape;220;p24" title="Screenshot 2026-04-22 at 11.29.08 AM.png"/>
          <p:cNvPicPr preferRelativeResize="0"/>
          <p:nvPr/>
        </p:nvPicPr>
        <p:blipFill>
          <a:blip r:embed="rId4">
            <a:alphaModFix/>
          </a:blip>
          <a:stretch>
            <a:fillRect/>
          </a:stretch>
        </p:blipFill>
        <p:spPr>
          <a:xfrm>
            <a:off x="5752325" y="0"/>
            <a:ext cx="2316275" cy="5184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24" name="Shape 224"/>
        <p:cNvGrpSpPr/>
        <p:nvPr/>
      </p:nvGrpSpPr>
      <p:grpSpPr>
        <a:xfrm>
          <a:off x="0" y="0"/>
          <a:ext cx="0" cy="0"/>
          <a:chOff x="0" y="0"/>
          <a:chExt cx="0" cy="0"/>
        </a:xfrm>
      </p:grpSpPr>
      <p:sp>
        <p:nvSpPr>
          <p:cNvPr id="225" name="Google Shape;2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typi"/>
                <a:ea typeface="Platypi"/>
                <a:cs typeface="Platypi"/>
                <a:sym typeface="Platypi"/>
              </a:rPr>
              <a:t>Limitations - Juliette</a:t>
            </a:r>
            <a:endParaRPr>
              <a:latin typeface="Platypi"/>
              <a:ea typeface="Platypi"/>
              <a:cs typeface="Platypi"/>
              <a:sym typeface="Platypi"/>
            </a:endParaRPr>
          </a:p>
        </p:txBody>
      </p:sp>
      <p:sp>
        <p:nvSpPr>
          <p:cNvPr id="226" name="Google Shape;226;p25"/>
          <p:cNvSpPr/>
          <p:nvPr/>
        </p:nvSpPr>
        <p:spPr>
          <a:xfrm>
            <a:off x="1018800" y="1401096"/>
            <a:ext cx="7106400" cy="264300"/>
          </a:xfrm>
          <a:prstGeom prst="rect">
            <a:avLst/>
          </a:prstGeom>
          <a:noFill/>
          <a:ln>
            <a:noFill/>
          </a:ln>
          <a:effectLst>
            <a:reflection blurRad="0" dir="5400000" dist="38100" endA="0" endPos="30000" fadeDir="5400012" kx="0" rotWithShape="0" algn="bl" stPos="0" sy="-100000" ky="0"/>
          </a:effectLst>
        </p:spPr>
        <p:txBody>
          <a:bodyPr anchorCtr="0" anchor="ctr" bIns="100950" lIns="100950" spcFirstLastPara="1" rIns="100950" wrap="square" tIns="100950">
            <a:noAutofit/>
          </a:bodyPr>
          <a:lstStyle/>
          <a:p>
            <a:pPr indent="0" lvl="0" marL="0" rtl="0" algn="ctr">
              <a:lnSpc>
                <a:spcPct val="115000"/>
              </a:lnSpc>
              <a:spcBef>
                <a:spcPts val="0"/>
              </a:spcBef>
              <a:spcAft>
                <a:spcPts val="1200"/>
              </a:spcAft>
              <a:buClr>
                <a:schemeClr val="dk1"/>
              </a:buClr>
              <a:buSzPts val="1100"/>
              <a:buFont typeface="Arial"/>
              <a:buNone/>
            </a:pPr>
            <a:r>
              <a:rPr lang="en" sz="1300">
                <a:solidFill>
                  <a:schemeClr val="dk1"/>
                </a:solidFill>
                <a:latin typeface="Platypi"/>
                <a:ea typeface="Platypi"/>
                <a:cs typeface="Platypi"/>
                <a:sym typeface="Platypi"/>
              </a:rPr>
              <a:t>Trained model only works well if new datasets are in a similar design space </a:t>
            </a:r>
            <a:endParaRPr sz="1300">
              <a:solidFill>
                <a:schemeClr val="dk1"/>
              </a:solidFill>
              <a:latin typeface="Platypi"/>
              <a:ea typeface="Platypi"/>
              <a:cs typeface="Platypi"/>
              <a:sym typeface="Platypi"/>
            </a:endParaRPr>
          </a:p>
        </p:txBody>
      </p:sp>
      <p:grpSp>
        <p:nvGrpSpPr>
          <p:cNvPr id="227" name="Google Shape;227;p25"/>
          <p:cNvGrpSpPr/>
          <p:nvPr/>
        </p:nvGrpSpPr>
        <p:grpSpPr>
          <a:xfrm>
            <a:off x="603616" y="1701640"/>
            <a:ext cx="7936789" cy="737635"/>
            <a:chOff x="943723" y="3098500"/>
            <a:chExt cx="7257488" cy="674440"/>
          </a:xfrm>
        </p:grpSpPr>
        <p:sp>
          <p:nvSpPr>
            <p:cNvPr id="228" name="Google Shape;228;p25"/>
            <p:cNvSpPr/>
            <p:nvPr/>
          </p:nvSpPr>
          <p:spPr>
            <a:xfrm>
              <a:off x="5373411" y="3098524"/>
              <a:ext cx="28278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1189"/>
                </a:spcAft>
                <a:buNone/>
              </a:pPr>
              <a:r>
                <a:rPr lang="en" sz="1117">
                  <a:solidFill>
                    <a:schemeClr val="dk1"/>
                  </a:solidFill>
                  <a:latin typeface="Platypi Light"/>
                  <a:ea typeface="Platypi Light"/>
                  <a:cs typeface="Platypi Light"/>
                  <a:sym typeface="Platypi Light"/>
                </a:rPr>
                <a:t>A </a:t>
              </a:r>
              <a:r>
                <a:rPr lang="en" sz="1117">
                  <a:solidFill>
                    <a:schemeClr val="dk1"/>
                  </a:solidFill>
                  <a:latin typeface="Platypi Light"/>
                  <a:ea typeface="Platypi Light"/>
                  <a:cs typeface="Platypi Light"/>
                  <a:sym typeface="Platypi Light"/>
                </a:rPr>
                <a:t>separate</a:t>
              </a:r>
              <a:r>
                <a:rPr lang="en" sz="1117">
                  <a:solidFill>
                    <a:schemeClr val="dk1"/>
                  </a:solidFill>
                  <a:latin typeface="Platypi Light"/>
                  <a:ea typeface="Platypi Light"/>
                  <a:cs typeface="Platypi Light"/>
                  <a:sym typeface="Platypi Light"/>
                </a:rPr>
                <a:t> UCF and designs, parts and rules inputs would need to be made and input to cello and knox.</a:t>
              </a:r>
              <a:endParaRPr sz="1117">
                <a:solidFill>
                  <a:schemeClr val="dk1"/>
                </a:solidFill>
                <a:latin typeface="Platypi Light"/>
                <a:ea typeface="Platypi Light"/>
                <a:cs typeface="Platypi Light"/>
                <a:sym typeface="Platypi Light"/>
              </a:endParaRPr>
            </a:p>
          </p:txBody>
        </p:sp>
        <p:sp>
          <p:nvSpPr>
            <p:cNvPr id="229" name="Google Shape;229;p25"/>
            <p:cNvSpPr/>
            <p:nvPr/>
          </p:nvSpPr>
          <p:spPr>
            <a:xfrm>
              <a:off x="943723" y="3098500"/>
              <a:ext cx="23799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0" name="Google Shape;230;p25"/>
            <p:cNvSpPr/>
            <p:nvPr/>
          </p:nvSpPr>
          <p:spPr>
            <a:xfrm>
              <a:off x="1632122" y="3098513"/>
              <a:ext cx="6744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1" name="Google Shape;231;p25"/>
            <p:cNvSpPr/>
            <p:nvPr/>
          </p:nvSpPr>
          <p:spPr>
            <a:xfrm>
              <a:off x="943723" y="3098513"/>
              <a:ext cx="6876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2" name="Google Shape;232;p25"/>
            <p:cNvSpPr/>
            <p:nvPr/>
          </p:nvSpPr>
          <p:spPr>
            <a:xfrm>
              <a:off x="3335463" y="3098513"/>
              <a:ext cx="1007100" cy="674400"/>
            </a:xfrm>
            <a:prstGeom prst="rect">
              <a:avLst/>
            </a:prstGeom>
            <a:solidFill>
              <a:srgbClr val="93C47D"/>
            </a:solidFill>
            <a:ln cap="flat" cmpd="sng" w="42550">
              <a:solidFill>
                <a:srgbClr val="000000"/>
              </a:solidFill>
              <a:prstDash val="dot"/>
              <a:round/>
              <a:headEnd len="sm" w="sm" type="none"/>
              <a:tailEnd len="sm" w="sm" type="none"/>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3" name="Google Shape;233;p25"/>
            <p:cNvSpPr/>
            <p:nvPr/>
          </p:nvSpPr>
          <p:spPr>
            <a:xfrm>
              <a:off x="4354429" y="3098513"/>
              <a:ext cx="10071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4" name="Google Shape;234;p25"/>
            <p:cNvSpPr/>
            <p:nvPr/>
          </p:nvSpPr>
          <p:spPr>
            <a:xfrm>
              <a:off x="1210848" y="3098557"/>
              <a:ext cx="425700" cy="4092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b" bIns="100000" lIns="100000" spcFirstLastPara="1" rIns="100000" wrap="square" tIns="100000">
              <a:noAutofit/>
            </a:bodyPr>
            <a:lstStyle/>
            <a:p>
              <a:pPr indent="0" lvl="0" marL="0" rtl="0" algn="ctr">
                <a:spcBef>
                  <a:spcPts val="0"/>
                </a:spcBef>
                <a:spcAft>
                  <a:spcPts val="0"/>
                </a:spcAft>
                <a:buNone/>
              </a:pPr>
              <a:r>
                <a:rPr lang="en" sz="1750">
                  <a:solidFill>
                    <a:schemeClr val="dk1"/>
                  </a:solidFill>
                  <a:latin typeface="Platypi"/>
                  <a:ea typeface="Platypi"/>
                  <a:cs typeface="Platypi"/>
                  <a:sym typeface="Platypi"/>
                </a:rPr>
                <a:t>1</a:t>
              </a:r>
              <a:endParaRPr sz="1750">
                <a:solidFill>
                  <a:schemeClr val="dk1"/>
                </a:solidFill>
                <a:latin typeface="Platypi"/>
                <a:ea typeface="Platypi"/>
                <a:cs typeface="Platypi"/>
                <a:sym typeface="Platypi"/>
              </a:endParaRPr>
            </a:p>
          </p:txBody>
        </p:sp>
        <p:sp>
          <p:nvSpPr>
            <p:cNvPr id="235" name="Google Shape;235;p25"/>
            <p:cNvSpPr/>
            <p:nvPr/>
          </p:nvSpPr>
          <p:spPr>
            <a:xfrm rot="-2700000">
              <a:off x="4705031" y="3336392"/>
              <a:ext cx="305894" cy="116673"/>
            </a:xfrm>
            <a:prstGeom prst="corner">
              <a:avLst>
                <a:gd fmla="val 18804" name="adj1"/>
                <a:gd fmla="val 18145" name="adj2"/>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6" name="Google Shape;236;p25"/>
            <p:cNvSpPr/>
            <p:nvPr/>
          </p:nvSpPr>
          <p:spPr>
            <a:xfrm>
              <a:off x="3633813" y="3230513"/>
              <a:ext cx="410400" cy="410400"/>
            </a:xfrm>
            <a:prstGeom prst="mathMultiply">
              <a:avLst>
                <a:gd fmla="val 5080" name="adj1"/>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37" name="Google Shape;237;p25"/>
            <p:cNvSpPr/>
            <p:nvPr/>
          </p:nvSpPr>
          <p:spPr>
            <a:xfrm>
              <a:off x="1704731" y="3098540"/>
              <a:ext cx="15636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0"/>
                </a:spcAft>
                <a:buNone/>
              </a:pPr>
              <a:r>
                <a:rPr lang="en" sz="1239">
                  <a:solidFill>
                    <a:schemeClr val="dk1"/>
                  </a:solidFill>
                  <a:latin typeface="Platypi"/>
                  <a:ea typeface="Platypi"/>
                  <a:cs typeface="Platypi"/>
                  <a:sym typeface="Platypi"/>
                </a:rPr>
                <a:t>Different parts</a:t>
              </a:r>
              <a:endParaRPr sz="1239">
                <a:solidFill>
                  <a:schemeClr val="dk1"/>
                </a:solidFill>
                <a:latin typeface="Platypi"/>
                <a:ea typeface="Platypi"/>
                <a:cs typeface="Platypi"/>
                <a:sym typeface="Platypi"/>
              </a:endParaRPr>
            </a:p>
            <a:p>
              <a:pPr indent="0" lvl="0" marL="0" rtl="0" algn="l">
                <a:spcBef>
                  <a:spcPts val="1189"/>
                </a:spcBef>
                <a:spcAft>
                  <a:spcPts val="0"/>
                </a:spcAft>
                <a:buNone/>
              </a:pPr>
              <a:r>
                <a:t/>
              </a:r>
              <a:endParaRPr sz="792">
                <a:solidFill>
                  <a:srgbClr val="FFFFFF"/>
                </a:solidFill>
                <a:latin typeface="Roboto"/>
                <a:ea typeface="Roboto"/>
                <a:cs typeface="Roboto"/>
                <a:sym typeface="Roboto"/>
              </a:endParaRPr>
            </a:p>
          </p:txBody>
        </p:sp>
      </p:grpSp>
      <p:grpSp>
        <p:nvGrpSpPr>
          <p:cNvPr id="238" name="Google Shape;238;p25"/>
          <p:cNvGrpSpPr/>
          <p:nvPr/>
        </p:nvGrpSpPr>
        <p:grpSpPr>
          <a:xfrm>
            <a:off x="603603" y="2439289"/>
            <a:ext cx="7936790" cy="737655"/>
            <a:chOff x="943723" y="3783775"/>
            <a:chExt cx="7257489" cy="674458"/>
          </a:xfrm>
        </p:grpSpPr>
        <p:sp>
          <p:nvSpPr>
            <p:cNvPr id="239" name="Google Shape;239;p25"/>
            <p:cNvSpPr/>
            <p:nvPr/>
          </p:nvSpPr>
          <p:spPr>
            <a:xfrm>
              <a:off x="5373412" y="3783788"/>
              <a:ext cx="28278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1189"/>
                </a:spcAft>
                <a:buNone/>
              </a:pPr>
              <a:r>
                <a:rPr lang="en" sz="1117">
                  <a:solidFill>
                    <a:schemeClr val="dk1"/>
                  </a:solidFill>
                  <a:latin typeface="Platypi Light"/>
                  <a:ea typeface="Platypi Light"/>
                  <a:cs typeface="Platypi Light"/>
                  <a:sym typeface="Platypi Light"/>
                </a:rPr>
                <a:t>The ML Model only is trained for the </a:t>
              </a:r>
              <a:r>
                <a:rPr lang="en" sz="1117">
                  <a:solidFill>
                    <a:schemeClr val="dk1"/>
                  </a:solidFill>
                  <a:latin typeface="Platypi Light"/>
                  <a:ea typeface="Platypi Light"/>
                  <a:cs typeface="Platypi Light"/>
                  <a:sym typeface="Platypi Light"/>
                </a:rPr>
                <a:t>specific</a:t>
              </a:r>
              <a:r>
                <a:rPr lang="en" sz="1117">
                  <a:solidFill>
                    <a:schemeClr val="dk1"/>
                  </a:solidFill>
                  <a:latin typeface="Platypi Light"/>
                  <a:ea typeface="Platypi Light"/>
                  <a:cs typeface="Platypi Light"/>
                  <a:sym typeface="Platypi Light"/>
                </a:rPr>
                <a:t> datasets used.</a:t>
              </a:r>
              <a:endParaRPr sz="1117">
                <a:solidFill>
                  <a:schemeClr val="dk1"/>
                </a:solidFill>
                <a:latin typeface="Platypi Light"/>
                <a:ea typeface="Platypi Light"/>
                <a:cs typeface="Platypi Light"/>
                <a:sym typeface="Platypi Light"/>
              </a:endParaRPr>
            </a:p>
          </p:txBody>
        </p:sp>
        <p:sp>
          <p:nvSpPr>
            <p:cNvPr id="240" name="Google Shape;240;p25"/>
            <p:cNvSpPr/>
            <p:nvPr/>
          </p:nvSpPr>
          <p:spPr>
            <a:xfrm>
              <a:off x="943723" y="3783775"/>
              <a:ext cx="23799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1" name="Google Shape;241;p25"/>
            <p:cNvSpPr/>
            <p:nvPr/>
          </p:nvSpPr>
          <p:spPr>
            <a:xfrm>
              <a:off x="1632122" y="3783788"/>
              <a:ext cx="6744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2" name="Google Shape;242;p25"/>
            <p:cNvSpPr/>
            <p:nvPr/>
          </p:nvSpPr>
          <p:spPr>
            <a:xfrm>
              <a:off x="943723" y="3783788"/>
              <a:ext cx="6876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3" name="Google Shape;243;p25"/>
            <p:cNvSpPr/>
            <p:nvPr/>
          </p:nvSpPr>
          <p:spPr>
            <a:xfrm>
              <a:off x="3335463" y="3783788"/>
              <a:ext cx="1007100" cy="674400"/>
            </a:xfrm>
            <a:prstGeom prst="rect">
              <a:avLst/>
            </a:prstGeom>
            <a:solidFill>
              <a:srgbClr val="93C47D"/>
            </a:solidFill>
            <a:ln cap="flat" cmpd="sng" w="42550">
              <a:solidFill>
                <a:srgbClr val="000000"/>
              </a:solidFill>
              <a:prstDash val="dot"/>
              <a:round/>
              <a:headEnd len="sm" w="sm" type="none"/>
              <a:tailEnd len="sm" w="sm" type="none"/>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4" name="Google Shape;244;p25"/>
            <p:cNvSpPr/>
            <p:nvPr/>
          </p:nvSpPr>
          <p:spPr>
            <a:xfrm>
              <a:off x="4354429" y="3783788"/>
              <a:ext cx="10071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5" name="Google Shape;245;p25"/>
            <p:cNvSpPr/>
            <p:nvPr/>
          </p:nvSpPr>
          <p:spPr>
            <a:xfrm>
              <a:off x="1210848" y="3783832"/>
              <a:ext cx="425700" cy="4092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b" bIns="100000" lIns="100000" spcFirstLastPara="1" rIns="100000" wrap="square" tIns="100000">
              <a:noAutofit/>
            </a:bodyPr>
            <a:lstStyle/>
            <a:p>
              <a:pPr indent="0" lvl="0" marL="0" rtl="0" algn="ctr">
                <a:spcBef>
                  <a:spcPts val="0"/>
                </a:spcBef>
                <a:spcAft>
                  <a:spcPts val="0"/>
                </a:spcAft>
                <a:buNone/>
              </a:pPr>
              <a:r>
                <a:rPr lang="en" sz="1750">
                  <a:solidFill>
                    <a:schemeClr val="dk1"/>
                  </a:solidFill>
                  <a:latin typeface="Platypi"/>
                  <a:ea typeface="Platypi"/>
                  <a:cs typeface="Platypi"/>
                  <a:sym typeface="Platypi"/>
                </a:rPr>
                <a:t>2</a:t>
              </a:r>
              <a:endParaRPr sz="1750">
                <a:solidFill>
                  <a:schemeClr val="dk1"/>
                </a:solidFill>
                <a:latin typeface="Platypi"/>
                <a:ea typeface="Platypi"/>
                <a:cs typeface="Platypi"/>
                <a:sym typeface="Platypi"/>
              </a:endParaRPr>
            </a:p>
          </p:txBody>
        </p:sp>
        <p:sp>
          <p:nvSpPr>
            <p:cNvPr id="246" name="Google Shape;246;p25"/>
            <p:cNvSpPr/>
            <p:nvPr/>
          </p:nvSpPr>
          <p:spPr>
            <a:xfrm rot="-2700000">
              <a:off x="4705031" y="4021667"/>
              <a:ext cx="305894" cy="116673"/>
            </a:xfrm>
            <a:prstGeom prst="corner">
              <a:avLst>
                <a:gd fmla="val 18804" name="adj1"/>
                <a:gd fmla="val 18145" name="adj2"/>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47" name="Google Shape;247;p25"/>
            <p:cNvSpPr/>
            <p:nvPr/>
          </p:nvSpPr>
          <p:spPr>
            <a:xfrm>
              <a:off x="3633813" y="3915788"/>
              <a:ext cx="410400" cy="410400"/>
            </a:xfrm>
            <a:prstGeom prst="mathMultiply">
              <a:avLst>
                <a:gd fmla="val 5080" name="adj1"/>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sz="1387"/>
            </a:p>
          </p:txBody>
        </p:sp>
        <p:sp>
          <p:nvSpPr>
            <p:cNvPr id="248" name="Google Shape;248;p25"/>
            <p:cNvSpPr/>
            <p:nvPr/>
          </p:nvSpPr>
          <p:spPr>
            <a:xfrm>
              <a:off x="1704731" y="3783833"/>
              <a:ext cx="15720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0"/>
                </a:spcAft>
                <a:buNone/>
              </a:pPr>
              <a:r>
                <a:rPr lang="en" sz="1127">
                  <a:solidFill>
                    <a:schemeClr val="dk1"/>
                  </a:solidFill>
                  <a:latin typeface="Platypi"/>
                  <a:ea typeface="Platypi"/>
                  <a:cs typeface="Platypi"/>
                  <a:sym typeface="Platypi"/>
                </a:rPr>
                <a:t>Different architecture</a:t>
              </a:r>
              <a:endParaRPr sz="1127">
                <a:solidFill>
                  <a:schemeClr val="dk1"/>
                </a:solidFill>
                <a:latin typeface="Platypi"/>
                <a:ea typeface="Platypi"/>
                <a:cs typeface="Platypi"/>
                <a:sym typeface="Platypi"/>
              </a:endParaRPr>
            </a:p>
            <a:p>
              <a:pPr indent="0" lvl="0" marL="0" rtl="0" algn="l">
                <a:spcBef>
                  <a:spcPts val="1189"/>
                </a:spcBef>
                <a:spcAft>
                  <a:spcPts val="0"/>
                </a:spcAft>
                <a:buNone/>
              </a:pPr>
              <a:r>
                <a:t/>
              </a:r>
              <a:endParaRPr sz="792">
                <a:solidFill>
                  <a:srgbClr val="FFFFFF"/>
                </a:solidFill>
                <a:latin typeface="Roboto"/>
                <a:ea typeface="Roboto"/>
                <a:cs typeface="Roboto"/>
                <a:sym typeface="Roboto"/>
              </a:endParaRPr>
            </a:p>
          </p:txBody>
        </p:sp>
      </p:grpSp>
      <p:sp>
        <p:nvSpPr>
          <p:cNvPr id="249" name="Google Shape;249;p25"/>
          <p:cNvSpPr/>
          <p:nvPr/>
        </p:nvSpPr>
        <p:spPr>
          <a:xfrm>
            <a:off x="1018788" y="4156775"/>
            <a:ext cx="7106400" cy="385200"/>
          </a:xfrm>
          <a:prstGeom prst="rect">
            <a:avLst/>
          </a:prstGeom>
          <a:solidFill>
            <a:srgbClr val="D9EAD3"/>
          </a:solidFill>
          <a:ln>
            <a:noFill/>
          </a:ln>
          <a:effectLst>
            <a:reflection blurRad="0" dir="5400000" dist="38100" endA="0" endPos="30000" fadeDir="5400012" kx="0" rotWithShape="0" algn="bl" stPos="0" sy="-100000" ky="0"/>
          </a:effectLst>
        </p:spPr>
        <p:txBody>
          <a:bodyPr anchorCtr="0" anchor="ctr" bIns="100950" lIns="100950" spcFirstLastPara="1" rIns="100950" wrap="square" tIns="100950">
            <a:noAutofit/>
          </a:bodyPr>
          <a:lstStyle/>
          <a:p>
            <a:pPr indent="0" lvl="0" marL="0" rtl="0" algn="ctr">
              <a:lnSpc>
                <a:spcPct val="115000"/>
              </a:lnSpc>
              <a:spcBef>
                <a:spcPts val="0"/>
              </a:spcBef>
              <a:spcAft>
                <a:spcPts val="1200"/>
              </a:spcAft>
              <a:buClr>
                <a:schemeClr val="dk1"/>
              </a:buClr>
              <a:buSzPts val="1100"/>
              <a:buFont typeface="Arial"/>
              <a:buNone/>
            </a:pPr>
            <a:r>
              <a:rPr lang="en" sz="1200">
                <a:solidFill>
                  <a:schemeClr val="dk1"/>
                </a:solidFill>
                <a:latin typeface="Platypi"/>
                <a:ea typeface="Platypi"/>
                <a:cs typeface="Platypi"/>
                <a:sym typeface="Platypi"/>
              </a:rPr>
              <a:t>Script generating UCF and CSV files are dataframe structure dependent</a:t>
            </a:r>
            <a:endParaRPr sz="1283">
              <a:solidFill>
                <a:srgbClr val="FFFFFF"/>
              </a:solidFill>
              <a:latin typeface="Roboto"/>
              <a:ea typeface="Roboto"/>
              <a:cs typeface="Roboto"/>
              <a:sym typeface="Roboto"/>
            </a:endParaRPr>
          </a:p>
        </p:txBody>
      </p:sp>
      <p:grpSp>
        <p:nvGrpSpPr>
          <p:cNvPr id="250" name="Google Shape;250;p25"/>
          <p:cNvGrpSpPr/>
          <p:nvPr/>
        </p:nvGrpSpPr>
        <p:grpSpPr>
          <a:xfrm>
            <a:off x="603589" y="3176906"/>
            <a:ext cx="7936790" cy="737655"/>
            <a:chOff x="943723" y="3783775"/>
            <a:chExt cx="7257489" cy="674458"/>
          </a:xfrm>
        </p:grpSpPr>
        <p:sp>
          <p:nvSpPr>
            <p:cNvPr id="251" name="Google Shape;251;p25"/>
            <p:cNvSpPr/>
            <p:nvPr/>
          </p:nvSpPr>
          <p:spPr>
            <a:xfrm>
              <a:off x="5373412" y="3783788"/>
              <a:ext cx="28278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1189"/>
                </a:spcAft>
                <a:buNone/>
              </a:pPr>
              <a:r>
                <a:rPr lang="en" sz="1117">
                  <a:solidFill>
                    <a:schemeClr val="dk1"/>
                  </a:solidFill>
                  <a:latin typeface="Platypi Light"/>
                  <a:ea typeface="Platypi Light"/>
                  <a:cs typeface="Platypi Light"/>
                  <a:sym typeface="Platypi Light"/>
                </a:rPr>
                <a:t>An improvement for future work would be to automate UCF and rule generation for the future.</a:t>
              </a:r>
              <a:endParaRPr sz="1117">
                <a:solidFill>
                  <a:schemeClr val="dk1"/>
                </a:solidFill>
                <a:latin typeface="Platypi Light"/>
                <a:ea typeface="Platypi Light"/>
                <a:cs typeface="Platypi Light"/>
                <a:sym typeface="Platypi Light"/>
              </a:endParaRPr>
            </a:p>
          </p:txBody>
        </p:sp>
        <p:sp>
          <p:nvSpPr>
            <p:cNvPr id="252" name="Google Shape;252;p25"/>
            <p:cNvSpPr/>
            <p:nvPr/>
          </p:nvSpPr>
          <p:spPr>
            <a:xfrm>
              <a:off x="943723" y="3783775"/>
              <a:ext cx="23799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3" name="Google Shape;253;p25"/>
            <p:cNvSpPr/>
            <p:nvPr/>
          </p:nvSpPr>
          <p:spPr>
            <a:xfrm>
              <a:off x="1632122" y="3783788"/>
              <a:ext cx="6744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4" name="Google Shape;254;p25"/>
            <p:cNvSpPr/>
            <p:nvPr/>
          </p:nvSpPr>
          <p:spPr>
            <a:xfrm>
              <a:off x="943723" y="3783788"/>
              <a:ext cx="687600" cy="674400"/>
            </a:xfrm>
            <a:prstGeom prst="rtTriangle">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5" name="Google Shape;255;p25"/>
            <p:cNvSpPr/>
            <p:nvPr/>
          </p:nvSpPr>
          <p:spPr>
            <a:xfrm>
              <a:off x="3335463" y="3783788"/>
              <a:ext cx="1007100" cy="674400"/>
            </a:xfrm>
            <a:prstGeom prst="rect">
              <a:avLst/>
            </a:prstGeom>
            <a:solidFill>
              <a:srgbClr val="93C47D"/>
            </a:solidFill>
            <a:ln cap="flat" cmpd="sng" w="42550">
              <a:solidFill>
                <a:srgbClr val="000000"/>
              </a:solidFill>
              <a:prstDash val="dot"/>
              <a:round/>
              <a:headEnd len="sm" w="sm" type="none"/>
              <a:tailEnd len="sm" w="sm" type="none"/>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6" name="Google Shape;256;p25"/>
            <p:cNvSpPr/>
            <p:nvPr/>
          </p:nvSpPr>
          <p:spPr>
            <a:xfrm>
              <a:off x="4354429" y="3783788"/>
              <a:ext cx="10071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7" name="Google Shape;257;p25"/>
            <p:cNvSpPr/>
            <p:nvPr/>
          </p:nvSpPr>
          <p:spPr>
            <a:xfrm>
              <a:off x="1210848" y="3783832"/>
              <a:ext cx="425700" cy="4092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b" bIns="100000" lIns="100000" spcFirstLastPara="1" rIns="100000" wrap="square" tIns="100000">
              <a:noAutofit/>
            </a:bodyPr>
            <a:lstStyle/>
            <a:p>
              <a:pPr indent="0" lvl="0" marL="0" rtl="0" algn="ctr">
                <a:spcBef>
                  <a:spcPts val="0"/>
                </a:spcBef>
                <a:spcAft>
                  <a:spcPts val="0"/>
                </a:spcAft>
                <a:buNone/>
              </a:pPr>
              <a:r>
                <a:rPr lang="en" sz="1750">
                  <a:solidFill>
                    <a:schemeClr val="dk1"/>
                  </a:solidFill>
                  <a:latin typeface="Platypi"/>
                  <a:ea typeface="Platypi"/>
                  <a:cs typeface="Platypi"/>
                  <a:sym typeface="Platypi"/>
                </a:rPr>
                <a:t>3</a:t>
              </a:r>
              <a:endParaRPr sz="1750">
                <a:solidFill>
                  <a:schemeClr val="dk1"/>
                </a:solidFill>
                <a:latin typeface="Platypi"/>
                <a:ea typeface="Platypi"/>
                <a:cs typeface="Platypi"/>
                <a:sym typeface="Platypi"/>
              </a:endParaRPr>
            </a:p>
          </p:txBody>
        </p:sp>
        <p:sp>
          <p:nvSpPr>
            <p:cNvPr id="258" name="Google Shape;258;p25"/>
            <p:cNvSpPr/>
            <p:nvPr/>
          </p:nvSpPr>
          <p:spPr>
            <a:xfrm rot="-2700000">
              <a:off x="4705031" y="4021667"/>
              <a:ext cx="305894" cy="116673"/>
            </a:xfrm>
            <a:prstGeom prst="corner">
              <a:avLst>
                <a:gd fmla="val 18804" name="adj1"/>
                <a:gd fmla="val 18145" name="adj2"/>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a:p>
          </p:txBody>
        </p:sp>
        <p:sp>
          <p:nvSpPr>
            <p:cNvPr id="259" name="Google Shape;259;p25"/>
            <p:cNvSpPr/>
            <p:nvPr/>
          </p:nvSpPr>
          <p:spPr>
            <a:xfrm>
              <a:off x="3633813" y="3915788"/>
              <a:ext cx="410400" cy="410400"/>
            </a:xfrm>
            <a:prstGeom prst="mathMultiply">
              <a:avLst>
                <a:gd fmla="val 5080" name="adj1"/>
              </a:avLst>
            </a:prstGeom>
            <a:solidFill>
              <a:schemeClr val="dk1"/>
            </a:solidFill>
            <a:ln>
              <a:noFill/>
            </a:ln>
            <a:effectLst>
              <a:reflection blurRad="0" dir="5400000" dist="37736" endA="0" endPos="30000" fadeDir="5400012" kx="0" rotWithShape="0" algn="bl" stA="0" stPos="0" sy="-100000" ky="0"/>
            </a:effectLst>
          </p:spPr>
          <p:txBody>
            <a:bodyPr anchorCtr="0" anchor="ctr" bIns="100000" lIns="100000" spcFirstLastPara="1" rIns="100000" wrap="square" tIns="100000">
              <a:noAutofit/>
            </a:bodyPr>
            <a:lstStyle/>
            <a:p>
              <a:pPr indent="0" lvl="0" marL="0" rtl="0" algn="l">
                <a:spcBef>
                  <a:spcPts val="0"/>
                </a:spcBef>
                <a:spcAft>
                  <a:spcPts val="0"/>
                </a:spcAft>
                <a:buNone/>
              </a:pPr>
              <a:r>
                <a:t/>
              </a:r>
              <a:endParaRPr sz="1387"/>
            </a:p>
          </p:txBody>
        </p:sp>
        <p:sp>
          <p:nvSpPr>
            <p:cNvPr id="260" name="Google Shape;260;p25"/>
            <p:cNvSpPr/>
            <p:nvPr/>
          </p:nvSpPr>
          <p:spPr>
            <a:xfrm>
              <a:off x="1704731" y="3783833"/>
              <a:ext cx="1572000" cy="674400"/>
            </a:xfrm>
            <a:prstGeom prst="rect">
              <a:avLst/>
            </a:prstGeom>
            <a:solidFill>
              <a:srgbClr val="93C47D"/>
            </a:solidFill>
            <a:ln>
              <a:noFill/>
            </a:ln>
            <a:effectLst>
              <a:reflection blurRad="0" dir="5400000" dist="37736" endA="0" endPos="30000" fadeDir="5400012" kx="0" rotWithShape="0" algn="bl" stA="0" stPos="0" sy="-100000" ky="0"/>
            </a:effectLst>
          </p:spPr>
          <p:txBody>
            <a:bodyPr anchorCtr="0" anchor="t" bIns="100000" lIns="100000" spcFirstLastPara="1" rIns="100000" wrap="square" tIns="100000">
              <a:noAutofit/>
            </a:bodyPr>
            <a:lstStyle/>
            <a:p>
              <a:pPr indent="0" lvl="0" marL="0" rtl="0" algn="l">
                <a:lnSpc>
                  <a:spcPct val="115000"/>
                </a:lnSpc>
                <a:spcBef>
                  <a:spcPts val="0"/>
                </a:spcBef>
                <a:spcAft>
                  <a:spcPts val="0"/>
                </a:spcAft>
                <a:buNone/>
              </a:pPr>
              <a:r>
                <a:rPr lang="en" sz="1127">
                  <a:solidFill>
                    <a:schemeClr val="dk1"/>
                  </a:solidFill>
                  <a:latin typeface="Platypi"/>
                  <a:ea typeface="Platypi"/>
                  <a:cs typeface="Platypi"/>
                  <a:sym typeface="Platypi"/>
                </a:rPr>
                <a:t>Different biological system</a:t>
              </a:r>
              <a:endParaRPr sz="1127">
                <a:solidFill>
                  <a:schemeClr val="dk1"/>
                </a:solidFill>
                <a:latin typeface="Platypi"/>
                <a:ea typeface="Platypi"/>
                <a:cs typeface="Platypi"/>
                <a:sym typeface="Platypi"/>
              </a:endParaRPr>
            </a:p>
            <a:p>
              <a:pPr indent="0" lvl="0" marL="0" rtl="0" algn="l">
                <a:spcBef>
                  <a:spcPts val="1189"/>
                </a:spcBef>
                <a:spcAft>
                  <a:spcPts val="0"/>
                </a:spcAft>
                <a:buNone/>
              </a:pPr>
              <a:r>
                <a:t/>
              </a:r>
              <a:endParaRPr sz="792">
                <a:solidFill>
                  <a:srgbClr val="FFFFFF"/>
                </a:solidFill>
                <a:latin typeface="Roboto"/>
                <a:ea typeface="Roboto"/>
                <a:cs typeface="Roboto"/>
                <a:sym typeface="Robot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64" name="Shape 264"/>
        <p:cNvGrpSpPr/>
        <p:nvPr/>
      </p:nvGrpSpPr>
      <p:grpSpPr>
        <a:xfrm>
          <a:off x="0" y="0"/>
          <a:ext cx="0" cy="0"/>
          <a:chOff x="0" y="0"/>
          <a:chExt cx="0" cy="0"/>
        </a:xfrm>
      </p:grpSpPr>
      <p:cxnSp>
        <p:nvCxnSpPr>
          <p:cNvPr id="265" name="Google Shape;265;p26"/>
          <p:cNvCxnSpPr/>
          <p:nvPr/>
        </p:nvCxnSpPr>
        <p:spPr>
          <a:xfrm flipH="1">
            <a:off x="4148363" y="-131250"/>
            <a:ext cx="827100" cy="5406000"/>
          </a:xfrm>
          <a:prstGeom prst="straightConnector1">
            <a:avLst/>
          </a:prstGeom>
          <a:noFill/>
          <a:ln cap="flat" cmpd="sng" w="76200">
            <a:solidFill>
              <a:schemeClr val="dk2"/>
            </a:solidFill>
            <a:prstDash val="solid"/>
            <a:round/>
            <a:headEnd len="med" w="med" type="none"/>
            <a:tailEnd len="med" w="med" type="none"/>
          </a:ln>
        </p:spPr>
      </p:cxnSp>
      <p:sp>
        <p:nvSpPr>
          <p:cNvPr id="266" name="Google Shape;266;p26"/>
          <p:cNvSpPr txBox="1"/>
          <p:nvPr>
            <p:ph type="title"/>
          </p:nvPr>
        </p:nvSpPr>
        <p:spPr>
          <a:xfrm>
            <a:off x="1675075" y="0"/>
            <a:ext cx="3496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Platypi"/>
                <a:ea typeface="Platypi"/>
                <a:cs typeface="Platypi"/>
                <a:sym typeface="Platypi"/>
              </a:rPr>
              <a:t>Successes </a:t>
            </a:r>
            <a:endParaRPr b="1">
              <a:latin typeface="Platypi"/>
              <a:ea typeface="Platypi"/>
              <a:cs typeface="Platypi"/>
              <a:sym typeface="Platypi"/>
            </a:endParaRPr>
          </a:p>
        </p:txBody>
      </p:sp>
      <p:sp>
        <p:nvSpPr>
          <p:cNvPr id="267" name="Google Shape;267;p26"/>
          <p:cNvSpPr txBox="1"/>
          <p:nvPr>
            <p:ph type="title"/>
          </p:nvPr>
        </p:nvSpPr>
        <p:spPr>
          <a:xfrm>
            <a:off x="3605475" y="4470950"/>
            <a:ext cx="3943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Platypi"/>
                <a:ea typeface="Platypi"/>
                <a:cs typeface="Platypi"/>
                <a:sym typeface="Platypi"/>
              </a:rPr>
              <a:t>Failures</a:t>
            </a:r>
            <a:endParaRPr b="1">
              <a:latin typeface="Platypi"/>
              <a:ea typeface="Platypi"/>
              <a:cs typeface="Platypi"/>
              <a:sym typeface="Platypi"/>
            </a:endParaRPr>
          </a:p>
        </p:txBody>
      </p:sp>
      <p:sp>
        <p:nvSpPr>
          <p:cNvPr id="268" name="Google Shape;268;p26"/>
          <p:cNvSpPr/>
          <p:nvPr/>
        </p:nvSpPr>
        <p:spPr>
          <a:xfrm>
            <a:off x="2712613" y="672550"/>
            <a:ext cx="2273400" cy="2358600"/>
          </a:xfrm>
          <a:prstGeom prst="upArrow">
            <a:avLst>
              <a:gd fmla="val 50000" name="adj1"/>
              <a:gd fmla="val 50000" name="adj2"/>
            </a:avLst>
          </a:prstGeom>
          <a:solidFill>
            <a:srgbClr val="38761D"/>
          </a:solidFill>
          <a:ln cap="flat" cmpd="sng" w="1143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6"/>
          <p:cNvSpPr/>
          <p:nvPr/>
        </p:nvSpPr>
        <p:spPr>
          <a:xfrm rot="10800000">
            <a:off x="4157988" y="2112350"/>
            <a:ext cx="2273400" cy="2358600"/>
          </a:xfrm>
          <a:prstGeom prst="upArrow">
            <a:avLst>
              <a:gd fmla="val 50000" name="adj1"/>
              <a:gd fmla="val 50000" name="adj2"/>
            </a:avLst>
          </a:prstGeom>
          <a:solidFill>
            <a:srgbClr val="FF0000"/>
          </a:solidFill>
          <a:ln cap="flat" cmpd="sng" w="1143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6"/>
          <p:cNvSpPr txBox="1"/>
          <p:nvPr/>
        </p:nvSpPr>
        <p:spPr>
          <a:xfrm>
            <a:off x="262225" y="888650"/>
            <a:ext cx="2712600" cy="9099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Successfully generated a UCF file and designs from real data</a:t>
            </a:r>
            <a:endParaRPr sz="1440">
              <a:solidFill>
                <a:schemeClr val="dk1"/>
              </a:solidFill>
              <a:latin typeface="Platypi"/>
              <a:ea typeface="Platypi"/>
              <a:cs typeface="Platypi"/>
              <a:sym typeface="Platypi"/>
            </a:endParaRPr>
          </a:p>
        </p:txBody>
      </p:sp>
      <p:sp>
        <p:nvSpPr>
          <p:cNvPr id="271" name="Google Shape;271;p26"/>
          <p:cNvSpPr txBox="1"/>
          <p:nvPr/>
        </p:nvSpPr>
        <p:spPr>
          <a:xfrm>
            <a:off x="5078025" y="551150"/>
            <a:ext cx="3943200" cy="5727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b="1" lang="en" sz="1640">
                <a:solidFill>
                  <a:schemeClr val="dk1"/>
                </a:solidFill>
                <a:latin typeface="Platypi"/>
                <a:ea typeface="Platypi"/>
                <a:cs typeface="Platypi"/>
                <a:sym typeface="Platypi"/>
              </a:rPr>
              <a:t>Organization</a:t>
            </a:r>
            <a:endParaRPr b="1" sz="1640">
              <a:solidFill>
                <a:schemeClr val="dk1"/>
              </a:solidFill>
              <a:latin typeface="Platypi"/>
              <a:ea typeface="Platypi"/>
              <a:cs typeface="Platypi"/>
              <a:sym typeface="Platypi"/>
            </a:endParaRPr>
          </a:p>
        </p:txBody>
      </p:sp>
      <p:sp>
        <p:nvSpPr>
          <p:cNvPr id="272" name="Google Shape;272;p26"/>
          <p:cNvSpPr txBox="1"/>
          <p:nvPr/>
        </p:nvSpPr>
        <p:spPr>
          <a:xfrm>
            <a:off x="121025" y="2233363"/>
            <a:ext cx="2712600" cy="12774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Created an automated pipeline within GUI: Cello-&gt;Knox-&gt;ML-&gt;Rule Ranking</a:t>
            </a:r>
            <a:endParaRPr sz="1440">
              <a:solidFill>
                <a:schemeClr val="dk1"/>
              </a:solidFill>
              <a:latin typeface="Platypi"/>
              <a:ea typeface="Platypi"/>
              <a:cs typeface="Platypi"/>
              <a:sym typeface="Platypi"/>
            </a:endParaRPr>
          </a:p>
        </p:txBody>
      </p:sp>
      <p:sp>
        <p:nvSpPr>
          <p:cNvPr id="273" name="Google Shape;273;p26"/>
          <p:cNvSpPr txBox="1"/>
          <p:nvPr/>
        </p:nvSpPr>
        <p:spPr>
          <a:xfrm>
            <a:off x="999550" y="3706125"/>
            <a:ext cx="2712600" cy="9948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Distribution of work among team</a:t>
            </a:r>
            <a:endParaRPr sz="1440">
              <a:solidFill>
                <a:schemeClr val="dk1"/>
              </a:solidFill>
              <a:latin typeface="Platypi"/>
              <a:ea typeface="Platypi"/>
              <a:cs typeface="Platypi"/>
              <a:sym typeface="Platypi"/>
            </a:endParaRPr>
          </a:p>
        </p:txBody>
      </p:sp>
      <p:sp>
        <p:nvSpPr>
          <p:cNvPr id="274" name="Google Shape;274;p26"/>
          <p:cNvSpPr txBox="1"/>
          <p:nvPr/>
        </p:nvSpPr>
        <p:spPr>
          <a:xfrm>
            <a:off x="6511300" y="2524284"/>
            <a:ext cx="1885500" cy="4749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b="1" lang="en" sz="1640">
                <a:solidFill>
                  <a:schemeClr val="dk1"/>
                </a:solidFill>
                <a:latin typeface="Platypi"/>
                <a:ea typeface="Platypi"/>
                <a:cs typeface="Platypi"/>
                <a:sym typeface="Platypi"/>
              </a:rPr>
              <a:t>Deliverables</a:t>
            </a:r>
            <a:endParaRPr b="1" sz="1640">
              <a:solidFill>
                <a:schemeClr val="dk1"/>
              </a:solidFill>
              <a:latin typeface="Platypi"/>
              <a:ea typeface="Platypi"/>
              <a:cs typeface="Platypi"/>
              <a:sym typeface="Platypi"/>
            </a:endParaRPr>
          </a:p>
        </p:txBody>
      </p:sp>
      <p:sp>
        <p:nvSpPr>
          <p:cNvPr id="275" name="Google Shape;275;p26"/>
          <p:cNvSpPr txBox="1"/>
          <p:nvPr/>
        </p:nvSpPr>
        <p:spPr>
          <a:xfrm>
            <a:off x="5078025" y="1048313"/>
            <a:ext cx="3599400" cy="6747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Keeping on track with our timeline and finalizing project plans</a:t>
            </a:r>
            <a:endParaRPr sz="1440">
              <a:solidFill>
                <a:schemeClr val="dk1"/>
              </a:solidFill>
              <a:latin typeface="Platypi"/>
              <a:ea typeface="Platypi"/>
              <a:cs typeface="Platypi"/>
              <a:sym typeface="Platypi"/>
            </a:endParaRPr>
          </a:p>
        </p:txBody>
      </p:sp>
      <p:sp>
        <p:nvSpPr>
          <p:cNvPr id="276" name="Google Shape;276;p26"/>
          <p:cNvSpPr txBox="1"/>
          <p:nvPr/>
        </p:nvSpPr>
        <p:spPr>
          <a:xfrm>
            <a:off x="6149025" y="1758209"/>
            <a:ext cx="2712600" cy="6747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Shifting directions while </a:t>
            </a:r>
            <a:r>
              <a:rPr lang="en" sz="1440">
                <a:solidFill>
                  <a:schemeClr val="dk1"/>
                </a:solidFill>
                <a:latin typeface="Platypi"/>
                <a:ea typeface="Platypi"/>
                <a:cs typeface="Platypi"/>
                <a:sym typeface="Platypi"/>
              </a:rPr>
              <a:t>maintaining</a:t>
            </a:r>
            <a:r>
              <a:rPr lang="en" sz="1440">
                <a:solidFill>
                  <a:schemeClr val="dk1"/>
                </a:solidFill>
                <a:latin typeface="Platypi"/>
                <a:ea typeface="Platypi"/>
                <a:cs typeface="Platypi"/>
                <a:sym typeface="Platypi"/>
              </a:rPr>
              <a:t> alignment</a:t>
            </a:r>
            <a:endParaRPr sz="1440">
              <a:solidFill>
                <a:schemeClr val="dk1"/>
              </a:solidFill>
              <a:latin typeface="Platypi"/>
              <a:ea typeface="Platypi"/>
              <a:cs typeface="Platypi"/>
              <a:sym typeface="Platypi"/>
            </a:endParaRPr>
          </a:p>
        </p:txBody>
      </p:sp>
      <p:sp>
        <p:nvSpPr>
          <p:cNvPr id="277" name="Google Shape;277;p26"/>
          <p:cNvSpPr txBox="1"/>
          <p:nvPr/>
        </p:nvSpPr>
        <p:spPr>
          <a:xfrm>
            <a:off x="5952250" y="4069709"/>
            <a:ext cx="3003600" cy="5727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Automated UCF generation for any dataset</a:t>
            </a:r>
            <a:endParaRPr sz="1440">
              <a:solidFill>
                <a:schemeClr val="dk1"/>
              </a:solidFill>
              <a:latin typeface="Platypi"/>
              <a:ea typeface="Platypi"/>
              <a:cs typeface="Platypi"/>
              <a:sym typeface="Platypi"/>
            </a:endParaRPr>
          </a:p>
        </p:txBody>
      </p:sp>
      <p:sp>
        <p:nvSpPr>
          <p:cNvPr id="278" name="Google Shape;278;p26"/>
          <p:cNvSpPr txBox="1"/>
          <p:nvPr/>
        </p:nvSpPr>
        <p:spPr>
          <a:xfrm>
            <a:off x="6622125" y="2913946"/>
            <a:ext cx="2399100" cy="6747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Scaling with larger and multiple datasets</a:t>
            </a:r>
            <a:endParaRPr sz="1440">
              <a:solidFill>
                <a:schemeClr val="dk1"/>
              </a:solidFill>
              <a:latin typeface="Platypi"/>
              <a:ea typeface="Platypi"/>
              <a:cs typeface="Platypi"/>
              <a:sym typeface="Platypi"/>
            </a:endParaRPr>
          </a:p>
        </p:txBody>
      </p:sp>
      <p:sp>
        <p:nvSpPr>
          <p:cNvPr id="279" name="Google Shape;279;p26"/>
          <p:cNvSpPr txBox="1"/>
          <p:nvPr/>
        </p:nvSpPr>
        <p:spPr>
          <a:xfrm>
            <a:off x="6511300" y="3588659"/>
            <a:ext cx="2399100" cy="474900"/>
          </a:xfrm>
          <a:prstGeom prst="rect">
            <a:avLst/>
          </a:prstGeom>
          <a:noFill/>
          <a:ln>
            <a:noFill/>
          </a:ln>
        </p:spPr>
        <p:txBody>
          <a:bodyPr anchorCtr="0" anchor="ctr" bIns="221100" lIns="221100" spcFirstLastPara="1" rIns="221100" wrap="square" tIns="221100">
            <a:noAutofit/>
          </a:bodyPr>
          <a:lstStyle/>
          <a:p>
            <a:pPr indent="0" lvl="0" marL="0" rtl="0" algn="l">
              <a:lnSpc>
                <a:spcPct val="115000"/>
              </a:lnSpc>
              <a:spcBef>
                <a:spcPts val="0"/>
              </a:spcBef>
              <a:spcAft>
                <a:spcPts val="0"/>
              </a:spcAft>
              <a:buNone/>
            </a:pPr>
            <a:r>
              <a:rPr lang="en" sz="1440">
                <a:solidFill>
                  <a:schemeClr val="dk1"/>
                </a:solidFill>
                <a:latin typeface="Platypi"/>
                <a:ea typeface="Platypi"/>
                <a:cs typeface="Platypi"/>
                <a:sym typeface="Platypi"/>
              </a:rPr>
              <a:t>ML Model Variety</a:t>
            </a:r>
            <a:endParaRPr sz="1440">
              <a:solidFill>
                <a:schemeClr val="dk1"/>
              </a:solidFill>
              <a:latin typeface="Platypi"/>
              <a:ea typeface="Platypi"/>
              <a:cs typeface="Platypi"/>
              <a:sym typeface="Platypi"/>
            </a:endParaRPr>
          </a:p>
        </p:txBody>
      </p:sp>
      <p:sp>
        <p:nvSpPr>
          <p:cNvPr id="280" name="Google Shape;280;p26"/>
          <p:cNvSpPr txBox="1"/>
          <p:nvPr/>
        </p:nvSpPr>
        <p:spPr>
          <a:xfrm>
            <a:off x="-89275" y="55500"/>
            <a:ext cx="2024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Platypi"/>
                <a:ea typeface="Platypi"/>
                <a:cs typeface="Platypi"/>
                <a:sym typeface="Platypi"/>
              </a:rPr>
              <a:t>Electra</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84" name="Shape 284"/>
        <p:cNvGrpSpPr/>
        <p:nvPr/>
      </p:nvGrpSpPr>
      <p:grpSpPr>
        <a:xfrm>
          <a:off x="0" y="0"/>
          <a:ext cx="0" cy="0"/>
          <a:chOff x="0" y="0"/>
          <a:chExt cx="0" cy="0"/>
        </a:xfrm>
      </p:grpSpPr>
      <p:sp>
        <p:nvSpPr>
          <p:cNvPr id="285" name="Google Shape;28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typi"/>
                <a:ea typeface="Platypi"/>
                <a:cs typeface="Platypi"/>
                <a:sym typeface="Platypi"/>
              </a:rPr>
              <a:t>Conclusion - Meredith</a:t>
            </a:r>
            <a:endParaRPr>
              <a:latin typeface="Platypi"/>
              <a:ea typeface="Platypi"/>
              <a:cs typeface="Platypi"/>
              <a:sym typeface="Platypi"/>
            </a:endParaRPr>
          </a:p>
          <a:p>
            <a:pPr indent="0" lvl="0" marL="0" rtl="0" algn="l">
              <a:spcBef>
                <a:spcPts val="0"/>
              </a:spcBef>
              <a:spcAft>
                <a:spcPts val="0"/>
              </a:spcAft>
              <a:buNone/>
            </a:pPr>
            <a:r>
              <a:t/>
            </a:r>
            <a:endParaRPr>
              <a:latin typeface="Platypi"/>
              <a:ea typeface="Platypi"/>
              <a:cs typeface="Platypi"/>
              <a:sym typeface="Platypi"/>
            </a:endParaRPr>
          </a:p>
        </p:txBody>
      </p:sp>
      <p:sp>
        <p:nvSpPr>
          <p:cNvPr id="286" name="Google Shape;28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Platypi"/>
              <a:buChar char="●"/>
            </a:pPr>
            <a:r>
              <a:rPr lang="en">
                <a:latin typeface="Platypi"/>
                <a:ea typeface="Platypi"/>
                <a:cs typeface="Platypi"/>
                <a:sym typeface="Platypi"/>
              </a:rPr>
              <a:t>RuleScape successfully connects Cello to Knox and ranks rules based on expression scores.</a:t>
            </a:r>
            <a:endParaRPr>
              <a:latin typeface="Platypi"/>
              <a:ea typeface="Platypi"/>
              <a:cs typeface="Platypi"/>
              <a:sym typeface="Platypi"/>
            </a:endParaRPr>
          </a:p>
          <a:p>
            <a:pPr indent="-342900" lvl="0" marL="457200" rtl="0" algn="l">
              <a:spcBef>
                <a:spcPts val="0"/>
              </a:spcBef>
              <a:spcAft>
                <a:spcPts val="0"/>
              </a:spcAft>
              <a:buSzPts val="1800"/>
              <a:buFont typeface="Platypi"/>
              <a:buChar char="●"/>
            </a:pPr>
            <a:r>
              <a:rPr lang="en">
                <a:latin typeface="Platypi"/>
                <a:ea typeface="Platypi"/>
                <a:cs typeface="Platypi"/>
                <a:sym typeface="Platypi"/>
              </a:rPr>
              <a:t>Future Work:</a:t>
            </a:r>
            <a:endParaRPr>
              <a:latin typeface="Platypi"/>
              <a:ea typeface="Platypi"/>
              <a:cs typeface="Platypi"/>
              <a:sym typeface="Platypi"/>
            </a:endParaRPr>
          </a:p>
          <a:p>
            <a:pPr indent="-317500" lvl="1" marL="914400" rtl="0" algn="l">
              <a:spcBef>
                <a:spcPts val="0"/>
              </a:spcBef>
              <a:spcAft>
                <a:spcPts val="0"/>
              </a:spcAft>
              <a:buSzPts val="1400"/>
              <a:buFont typeface="Platypi"/>
              <a:buChar char="○"/>
            </a:pPr>
            <a:r>
              <a:rPr lang="en">
                <a:latin typeface="Platypi"/>
                <a:ea typeface="Platypi"/>
                <a:cs typeface="Platypi"/>
                <a:sym typeface="Platypi"/>
              </a:rPr>
              <a:t>LLM for data parsing - automate input formatting</a:t>
            </a:r>
            <a:endParaRPr>
              <a:latin typeface="Platypi"/>
              <a:ea typeface="Platypi"/>
              <a:cs typeface="Platypi"/>
              <a:sym typeface="Platypi"/>
            </a:endParaRPr>
          </a:p>
          <a:p>
            <a:pPr indent="-317500" lvl="1" marL="914400" rtl="0" algn="l">
              <a:spcBef>
                <a:spcPts val="0"/>
              </a:spcBef>
              <a:spcAft>
                <a:spcPts val="0"/>
              </a:spcAft>
              <a:buSzPts val="1400"/>
              <a:buFont typeface="Platypi"/>
              <a:buChar char="○"/>
            </a:pPr>
            <a:r>
              <a:rPr lang="en">
                <a:latin typeface="Platypi"/>
                <a:ea typeface="Platypi"/>
                <a:cs typeface="Platypi"/>
                <a:sym typeface="Platypi"/>
              </a:rPr>
              <a:t>LLM for rule generation - automate GOLDBAR rules</a:t>
            </a:r>
            <a:endParaRPr>
              <a:latin typeface="Platypi"/>
              <a:ea typeface="Platypi"/>
              <a:cs typeface="Platypi"/>
              <a:sym typeface="Platypi"/>
            </a:endParaRPr>
          </a:p>
          <a:p>
            <a:pPr indent="-317500" lvl="1" marL="914400" rtl="0" algn="l">
              <a:spcBef>
                <a:spcPts val="0"/>
              </a:spcBef>
              <a:spcAft>
                <a:spcPts val="0"/>
              </a:spcAft>
              <a:buSzPts val="1400"/>
              <a:buFont typeface="Platypi"/>
              <a:buChar char="○"/>
            </a:pPr>
            <a:r>
              <a:rPr lang="en">
                <a:latin typeface="Platypi"/>
                <a:ea typeface="Platypi"/>
                <a:cs typeface="Platypi"/>
                <a:sym typeface="Platypi"/>
              </a:rPr>
              <a:t>More ML models - improve analysis</a:t>
            </a:r>
            <a:endParaRPr>
              <a:latin typeface="Platypi"/>
              <a:ea typeface="Platypi"/>
              <a:cs typeface="Platypi"/>
              <a:sym typeface="Platypi"/>
            </a:endParaRPr>
          </a:p>
          <a:p>
            <a:pPr indent="-317500" lvl="1" marL="914400" rtl="0" algn="l">
              <a:spcBef>
                <a:spcPts val="0"/>
              </a:spcBef>
              <a:spcAft>
                <a:spcPts val="0"/>
              </a:spcAft>
              <a:buSzPts val="1400"/>
              <a:buFont typeface="Platypi"/>
              <a:buChar char="○"/>
            </a:pPr>
            <a:r>
              <a:rPr lang="en">
                <a:latin typeface="Platypi"/>
                <a:ea typeface="Platypi"/>
                <a:cs typeface="Platypi"/>
                <a:sym typeface="Platypi"/>
              </a:rPr>
              <a:t>More data - improve training</a:t>
            </a:r>
            <a:endParaRPr>
              <a:latin typeface="Platypi"/>
              <a:ea typeface="Platypi"/>
              <a:cs typeface="Platypi"/>
              <a:sym typeface="Platypi"/>
            </a:endParaRPr>
          </a:p>
          <a:p>
            <a:pPr indent="-317500" lvl="1" marL="914400" rtl="0" algn="l">
              <a:spcBef>
                <a:spcPts val="0"/>
              </a:spcBef>
              <a:spcAft>
                <a:spcPts val="0"/>
              </a:spcAft>
              <a:buSzPts val="1400"/>
              <a:buFont typeface="Platypi"/>
              <a:buChar char="○"/>
            </a:pPr>
            <a:r>
              <a:rPr lang="en">
                <a:latin typeface="Platypi"/>
                <a:ea typeface="Platypi"/>
                <a:cs typeface="Platypi"/>
                <a:sym typeface="Platypi"/>
              </a:rPr>
              <a:t>Wet lab validation - real world confirmation</a:t>
            </a:r>
            <a:endParaRPr>
              <a:latin typeface="Platypi"/>
              <a:ea typeface="Platypi"/>
              <a:cs typeface="Platypi"/>
              <a:sym typeface="Platypi"/>
            </a:endParaRPr>
          </a:p>
          <a:p>
            <a:pPr indent="0" lvl="0" marL="0" rtl="0" algn="l">
              <a:spcBef>
                <a:spcPts val="1200"/>
              </a:spcBef>
              <a:spcAft>
                <a:spcPts val="1200"/>
              </a:spcAft>
              <a:buNone/>
            </a:pPr>
            <a:r>
              <a:t/>
            </a:r>
            <a:endParaRPr>
              <a:latin typeface="Platypi"/>
              <a:ea typeface="Platypi"/>
              <a:cs typeface="Platypi"/>
              <a:sym typeface="Platyp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